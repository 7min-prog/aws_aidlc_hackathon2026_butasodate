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こんにちは、チームぶたそだてです。私たちが作ったのは「ぶたそだて」、人をダメにする育成ゲームです。食べて、寝て、サボって、最高にまるまるな豚を育てましょう。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本日は9つのテーマでお話しします。課題定義から始まり、コンセプト、アバターの分身性、ぶたバトル、技術構成、収益モデルまでをご紹介します。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ヘルスケアアプリのダウンロード後1ヶ月以内の離脱率は67%、3ヶ月後には85%が使わなくなります。Flurry AnalyticsやSensor Towerの調査が示す通り、義務感・数値管理の苦痛・報酬不足の3つが根本原因です。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従来のアプリは正しい行動を褒める。ぶたそだては逆です。そしてここが重要：ダイエットは効果が出るまで3ヶ月かかりますが、デブエットは食べれば明日すぐ効果が出る。体重もBMIも数字が大きくなるほどスコアが上がる、だから続くん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ターゲットは健康を気にし始めた20〜30代。ICT総研2024年調査によるとヘルスケアアプリとモバイルゲームの重複ユーザーは約1,400万人。この層の初年度獲得目標は10万人、わずか0.7%のシェアです。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豚アバターはあなた自身の分身です。あなたが食べれば豚も食べ、体重が増えれば豚も育つ。リアルな生活がそのままゲームになる。体重・BMIの数字が大きくなるほどスコアが上がり、それが快感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4段階の進化に加え、豚の種類も豊富です。基本のピンクぶたから、黒豚、ミニぶた、サムライぶた、さらにコラボ限定種まで。自分だけの分身を育てる楽しさがあります。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ぶたバトルは育てた分身同士を戦わせる対戦モードです。デブ度・食事スキル・睡眠耐久力など実生活データがそのままバトルステータスになる。自分の生活が強さになるという新しい体験です。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Apple Health、Google FitのデータをBedrockのAIが解析し、食事写真から「ダメ度」を判定します。深夜ラーメンなら豚+5、サラダなら豚マイナス2。全データがリアルタイムにアバターへ反映されます。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技術面では全てPWA+WebGLで構築します。ネイティブアプリ不要でインストール不要、ブラウザだけで遊べる。AWSのフルマネージド構成でスケールも容易です。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収益は5本柱。AIデブエットコーチが30%、ぶたバトルパスが25%、AIプレミアム機能が20%。LTV対CACは14.2倍を見込んでいます。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2026年Q2のPWA版MVPローンチから始まり、ぶたバトル、AI機能拡張を経て2027年下半期にはグローバル展開を目指します。ダメになるほど、愛される。ご清聴ありがとうございました。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lurry.com/blog/state-of-mobile-2024/" TargetMode="External"/><Relationship Id="rId2" Type="http://schemas.openxmlformats.org/officeDocument/2006/relationships/hyperlink" Target="https://sensortower.com/blog/mobile-app-retention-rates" TargetMode="External"/><Relationship Id="rId3" Type="http://schemas.openxmlformats.org/officeDocument/2006/relationships/hyperlink" Target="https://www.data.ai/en/go/state-of-mobile-2024/" TargetMode="External"/><Relationship Id="rId4" Type="http://schemas.openxmlformats.org/officeDocument/2006/relationships/hyperlink" Target="https://www.ihrsa.org/publications/the-ihrsa-health-club-consumer-report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ictr.co.jp/report/20240228-2/" TargetMode="External"/><Relationship Id="rId2" Type="http://schemas.openxmlformats.org/officeDocument/2006/relationships/hyperlink" Target="https://www.statista.com/statistics/896954/japan-mobile-gaming-mau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pplovin.com/blog/mobile-app-benchmark-report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106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584996"/>
            <a:ext cx="109880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70" kern="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AWS Summit Japan 2026 ｜ AI-DLC Hackathon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185071"/>
            <a:ext cx="1098804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b="1" spc="-165" kern="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</a:t>
            </a:r>
            <a:pPr algn="l" indent="0" marL="0">
              <a:lnSpc>
                <a:spcPct val="100000"/>
              </a:lnSpc>
              <a:buNone/>
            </a:pPr>
            <a:r>
              <a:rPr lang="en-US" sz="8250" b="1" spc="-165" kern="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そだて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143000" y="4423321"/>
            <a:ext cx="1098804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135" kern="0" dirty="0">
                <a:solidFill>
                  <a:srgbClr val="FFFA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〜 人をダメにする育成ゲーム 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5051971"/>
            <a:ext cx="1098804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食べて、寝て、サボって、"最高にまるまる豚"を育てよう！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5975896"/>
            <a:ext cx="109880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Team ぶたそだて ｜ 2026.04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6855470"/>
            <a:ext cx="762000" cy="84653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6749504"/>
            <a:ext cx="857250" cy="9525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0" y="6643688"/>
            <a:ext cx="952500" cy="1058317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950" y="6537871"/>
            <a:ext cx="1047750" cy="1164134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8250" y="3044415"/>
            <a:ext cx="3619500" cy="416242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648206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Agenda </a:t>
            </a:r>
            <a:pPr algn="l" indent="0" marL="0">
              <a:buNone/>
            </a:pPr>
            <a:r>
              <a:rPr lang="en-US" sz="33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｜ 目次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143000" y="1905000"/>
            <a:ext cx="7810500" cy="1401961"/>
          </a:xfrm>
          <a:prstGeom prst="roundRect">
            <a:avLst>
              <a:gd name="adj" fmla="val 1087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9225" y="2415480"/>
            <a:ext cx="571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6B9D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43125" y="2229743"/>
            <a:ext cx="67301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背景 &amp; 課題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143125" y="2648843"/>
            <a:ext cx="67301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ヘルスケアアプリが続かない本当の理由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34500" y="1905000"/>
            <a:ext cx="7810500" cy="1401961"/>
          </a:xfrm>
          <a:prstGeom prst="roundRect">
            <a:avLst>
              <a:gd name="adj" fmla="val 1087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10725" y="2415480"/>
            <a:ext cx="571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6B9D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334625" y="2229743"/>
            <a:ext cx="67301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コンセプト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334625" y="2648843"/>
            <a:ext cx="67301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"ダメ"を楽しむ、逆転の発想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43000" y="3459361"/>
            <a:ext cx="7810500" cy="1402110"/>
          </a:xfrm>
          <a:prstGeom prst="roundRect">
            <a:avLst>
              <a:gd name="adj" fmla="val 1086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9225" y="3969841"/>
            <a:ext cx="571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6B9D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143125" y="3784104"/>
            <a:ext cx="67301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ターゲットユーザー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143125" y="4203204"/>
            <a:ext cx="67301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健康を気にし始めた20〜30代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34500" y="3459361"/>
            <a:ext cx="7810500" cy="1402110"/>
          </a:xfrm>
          <a:prstGeom prst="roundRect">
            <a:avLst>
              <a:gd name="adj" fmla="val 1086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10725" y="3969841"/>
            <a:ext cx="571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6B9D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334625" y="3784104"/>
            <a:ext cx="67301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アバターは自分の分身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334625" y="4203204"/>
            <a:ext cx="67301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リアルな生活がそのままゲームになる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5013871"/>
            <a:ext cx="7810500" cy="1402110"/>
          </a:xfrm>
          <a:prstGeom prst="roundRect">
            <a:avLst>
              <a:gd name="adj" fmla="val 1086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9225" y="5524351"/>
            <a:ext cx="571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6B9D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143125" y="5338614"/>
            <a:ext cx="67301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ゲームシステム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143125" y="5757714"/>
            <a:ext cx="67301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4段階進化 × 豊富な豚の種類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334500" y="5013871"/>
            <a:ext cx="7810500" cy="1402110"/>
          </a:xfrm>
          <a:prstGeom prst="roundRect">
            <a:avLst>
              <a:gd name="adj" fmla="val 1086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10725" y="5524351"/>
            <a:ext cx="571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6B9D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334625" y="5338614"/>
            <a:ext cx="67301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ぶたバトル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334625" y="5757714"/>
            <a:ext cx="67301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育てた分身同士を戦わせる対戦モード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43000" y="6568380"/>
            <a:ext cx="7810500" cy="1402110"/>
          </a:xfrm>
          <a:prstGeom prst="roundRect">
            <a:avLst>
              <a:gd name="adj" fmla="val 1086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9225" y="7078861"/>
            <a:ext cx="571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6B9D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07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2143125" y="6893123"/>
            <a:ext cx="67301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ヘルスケア連携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2143125" y="7312223"/>
            <a:ext cx="67301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Apple Health / Google Fit 連携の仕組み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334500" y="6568380"/>
            <a:ext cx="7810500" cy="1402110"/>
          </a:xfrm>
          <a:prstGeom prst="roundRect">
            <a:avLst>
              <a:gd name="adj" fmla="val 1086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10725" y="7078861"/>
            <a:ext cx="571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6B9D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08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0334625" y="6893123"/>
            <a:ext cx="67301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技術アーキテクチャ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0334625" y="7312223"/>
            <a:ext cx="67301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Flutter + WebGL + AWS フルマネージド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43000" y="8122890"/>
            <a:ext cx="7810500" cy="1402110"/>
          </a:xfrm>
          <a:prstGeom prst="roundRect">
            <a:avLst>
              <a:gd name="adj" fmla="val 1086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19225" y="8633371"/>
            <a:ext cx="5715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6B9D">
                    <a:alpha val="5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09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2143125" y="8447633"/>
            <a:ext cx="67301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ビジネスモデル &amp; ロードマップ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2143125" y="8866733"/>
            <a:ext cx="67301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AIコーチ × バトルパス × グローバル展開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755463" y="9534525"/>
            <a:ext cx="49136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ぶたそだて ｜ AWS Summit Japan 2026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64820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01. 背景 &amp; 課題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038225"/>
            <a:ext cx="1648206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なぜ、</a:t>
            </a:r>
            <a:pPr algn="l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健康管理は続かない</a:t>
            </a:r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のか？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143000" y="2257425"/>
            <a:ext cx="3829050" cy="2668786"/>
          </a:xfrm>
          <a:prstGeom prst="roundRect">
            <a:avLst>
              <a:gd name="adj" fmla="val 7138"/>
            </a:avLst>
          </a:prstGeom>
          <a:solidFill>
            <a:srgbClr val="FF6B9D">
              <a:alpha val="15000"/>
            </a:srgbClr>
          </a:solidFill>
          <a:ln w="9525">
            <a:solidFill>
              <a:srgbClr val="FF6B9D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0076" y="2571750"/>
            <a:ext cx="337489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67</a:t>
            </a:r>
            <a:pPr algn="ctr" indent="0" marL="0">
              <a:buNone/>
            </a:pPr>
            <a:r>
              <a:rPr lang="en-US" sz="24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0076" y="3352800"/>
            <a:ext cx="337489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ダウンロード後 1ヶ月以内に離脱</a:t>
            </a:r>
            <a:endParaRPr lang="en-US" sz="18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1370076" y="4068961"/>
            <a:ext cx="337489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u="sng" dirty="0">
                <a:solidFill>
                  <a:srgbClr val="FFFFFF">
                    <a:alpha val="2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flurry.com/blog/state-of-mobile-2024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00650" y="2257425"/>
            <a:ext cx="3829050" cy="2668786"/>
          </a:xfrm>
          <a:prstGeom prst="roundRect">
            <a:avLst>
              <a:gd name="adj" fmla="val 7138"/>
            </a:avLst>
          </a:prstGeom>
          <a:solidFill>
            <a:srgbClr val="FF6B9D">
              <a:alpha val="15000"/>
            </a:srgbClr>
          </a:solidFill>
          <a:ln w="9525">
            <a:solidFill>
              <a:srgbClr val="FF6B9D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27726" y="2571750"/>
            <a:ext cx="337489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85</a:t>
            </a:r>
            <a:pPr algn="ctr" indent="0" marL="0">
              <a:buNone/>
            </a:pPr>
            <a:r>
              <a:rPr lang="en-US" sz="24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27726" y="3352800"/>
            <a:ext cx="337489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3ヶ月後には 使わなくなる</a:t>
            </a:r>
            <a:endParaRPr lang="en-US" sz="18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5427726" y="4068961"/>
            <a:ext cx="337489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u="sng" dirty="0">
                <a:solidFill>
                  <a:srgbClr val="FFFFFF">
                    <a:alpha val="2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sensortower.com/blog/mobile-app-retention-rates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58300" y="2257425"/>
            <a:ext cx="3829050" cy="2668786"/>
          </a:xfrm>
          <a:prstGeom prst="roundRect">
            <a:avLst>
              <a:gd name="adj" fmla="val 7138"/>
            </a:avLst>
          </a:prstGeom>
          <a:solidFill>
            <a:srgbClr val="FF6B9D">
              <a:alpha val="15000"/>
            </a:srgbClr>
          </a:solidFill>
          <a:ln w="9525">
            <a:solidFill>
              <a:srgbClr val="FF6B9D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5376" y="2571750"/>
            <a:ext cx="3374898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4.2</a:t>
            </a:r>
            <a:pPr algn="ctr" indent="0" marL="0">
              <a:buNone/>
            </a:pPr>
            <a:r>
              <a:rPr lang="en-US" sz="24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85376" y="3362325"/>
            <a:ext cx="337489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1日の平均利用時間 （SNSの1/10）</a:t>
            </a:r>
            <a:endParaRPr lang="en-US" sz="180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9485376" y="4078486"/>
            <a:ext cx="337489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u="sng" dirty="0">
                <a:solidFill>
                  <a:srgbClr val="FFFFFF">
                    <a:alpha val="2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data.ai/en/go/state-of-mobile-2024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315950" y="2257425"/>
            <a:ext cx="3829050" cy="2668786"/>
          </a:xfrm>
          <a:prstGeom prst="roundRect">
            <a:avLst>
              <a:gd name="adj" fmla="val 7138"/>
            </a:avLst>
          </a:prstGeom>
          <a:solidFill>
            <a:srgbClr val="FF6B9D">
              <a:alpha val="15000"/>
            </a:srgbClr>
          </a:solidFill>
          <a:ln w="9525">
            <a:solidFill>
              <a:srgbClr val="FF6B9D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43026" y="2571750"/>
            <a:ext cx="337489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</a:t>
            </a:r>
            <a:pPr algn="ctr" indent="0" marL="0">
              <a:buNone/>
            </a:pPr>
            <a:r>
              <a:rPr lang="en-US" sz="24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543026" y="3352800"/>
            <a:ext cx="337489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運動目標を 達成できる割合</a:t>
            </a:r>
            <a:endParaRPr lang="en-US" sz="1800" dirty="0"/>
          </a:p>
        </p:txBody>
      </p:sp>
      <p:sp>
        <p:nvSpPr>
          <p:cNvPr id="19" name="Text 17">
            <a:hlinkClick r:id="rId4" tooltip=""/>
          </p:cNvPr>
          <p:cNvSpPr/>
          <p:nvPr/>
        </p:nvSpPr>
        <p:spPr>
          <a:xfrm>
            <a:off x="13543026" y="4068961"/>
            <a:ext cx="337489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u="sng" dirty="0">
                <a:solidFill>
                  <a:srgbClr val="FFFFFF">
                    <a:alpha val="2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ihrsa.org/publications/health-club-consumer-report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5345311"/>
            <a:ext cx="5206901" cy="2121991"/>
          </a:xfrm>
          <a:prstGeom prst="roundRect">
            <a:avLst>
              <a:gd name="adj" fmla="val 7182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5345311"/>
            <a:ext cx="38100" cy="2121991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1447800" y="5612011"/>
            <a:ext cx="47744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① 義務感によるストレス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47800" y="6021586"/>
            <a:ext cx="477446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「健康でなければ」という強迫観念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47800" y="6469261"/>
            <a:ext cx="4774463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アプリを開くこと自体が苦痛になる。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40401" y="5345311"/>
            <a:ext cx="5207050" cy="2121991"/>
          </a:xfrm>
          <a:prstGeom prst="roundRect">
            <a:avLst>
              <a:gd name="adj" fmla="val 7182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40401" y="5345311"/>
            <a:ext cx="38100" cy="2121991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7" name="Text 25"/>
          <p:cNvSpPr/>
          <p:nvPr/>
        </p:nvSpPr>
        <p:spPr>
          <a:xfrm>
            <a:off x="6845201" y="5612011"/>
            <a:ext cx="47746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② 数値管理の苦痛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45201" y="6021586"/>
            <a:ext cx="477461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カロリー・歩数・体重…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6845201" y="6469261"/>
            <a:ext cx="4774616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数字を見るたびに自己否定。「今日もダメだった」が続く。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937950" y="5345311"/>
            <a:ext cx="5207050" cy="2121991"/>
          </a:xfrm>
          <a:prstGeom prst="roundRect">
            <a:avLst>
              <a:gd name="adj" fmla="val 7182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937950" y="5345311"/>
            <a:ext cx="38100" cy="2121991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2" name="Text 30"/>
          <p:cNvSpPr/>
          <p:nvPr/>
        </p:nvSpPr>
        <p:spPr>
          <a:xfrm>
            <a:off x="12242750" y="5612011"/>
            <a:ext cx="47746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③ 報酬が弱すぎる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242750" y="6021586"/>
            <a:ext cx="477461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健康になっても実感しにくい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2242750" y="6469261"/>
            <a:ext cx="4774616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ゲームのようなワクワク感がない。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804154" y="9534525"/>
            <a:ext cx="58935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ぶたそだて ｜ AWS Summit Japan 2026 3 / 11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02. コンセプト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038225"/>
            <a:ext cx="1687449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"ダメ"</a:t>
            </a:r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を楽しむ、逆転の発想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2181225"/>
            <a:ext cx="3790950" cy="657225"/>
          </a:xfrm>
          <a:prstGeom prst="roundRect">
            <a:avLst>
              <a:gd name="adj" fmla="val 17391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86136" y="2333625"/>
            <a:ext cx="35236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😔 従来のアプリ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00650" y="2181225"/>
            <a:ext cx="3790950" cy="657225"/>
          </a:xfrm>
          <a:prstGeom prst="roundRect">
            <a:avLst>
              <a:gd name="adj" fmla="val 17391"/>
            </a:avLst>
          </a:prstGeom>
          <a:solidFill>
            <a:srgbClr val="FF6B9D"/>
          </a:solidFill>
          <a:ln/>
        </p:spPr>
      </p:sp>
      <p:sp>
        <p:nvSpPr>
          <p:cNvPr id="7" name="Text 5"/>
          <p:cNvSpPr/>
          <p:nvPr/>
        </p:nvSpPr>
        <p:spPr>
          <a:xfrm>
            <a:off x="5334286" y="2333625"/>
            <a:ext cx="35236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🐷 ぶたそだて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3324225"/>
            <a:ext cx="3790950" cy="733425"/>
          </a:xfrm>
          <a:prstGeom prst="roundRect">
            <a:avLst>
              <a:gd name="adj" fmla="val 1558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3514725"/>
            <a:ext cx="337127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サボった → 叱られる 😞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705350" y="3538538"/>
            <a:ext cx="533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200650" y="2971800"/>
            <a:ext cx="3790950" cy="1438275"/>
          </a:xfrm>
          <a:prstGeom prst="roundRect">
            <a:avLst>
              <a:gd name="adj" fmla="val 7947"/>
            </a:avLst>
          </a:prstGeom>
          <a:solidFill>
            <a:srgbClr val="FF6B9D">
              <a:alpha val="12000"/>
            </a:srgbClr>
          </a:solidFill>
          <a:ln w="9525">
            <a:solidFill>
              <a:srgbClr val="FF6B9D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76875" y="3171825"/>
            <a:ext cx="3352229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AFF"/>
                </a:solidFill>
                <a:highlight>
                  <a:srgbClr val="FF6B9D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サボった → 豚がぽっちゃり 🩷 </a:t>
            </a:r>
            <a:pPr algn="l" indent="0" marL="0">
              <a:buNone/>
            </a:pPr>
            <a:r>
              <a:rPr lang="en-US" sz="195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♡ 今日もサボれた！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" y="4905375"/>
            <a:ext cx="3790950" cy="733425"/>
          </a:xfrm>
          <a:prstGeom prst="roundRect">
            <a:avLst>
              <a:gd name="adj" fmla="val 1558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5095875"/>
            <a:ext cx="337127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ジャンク食 → 警告 🚨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705350" y="5119688"/>
            <a:ext cx="533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200650" y="4543425"/>
            <a:ext cx="3790950" cy="1457325"/>
          </a:xfrm>
          <a:prstGeom prst="roundRect">
            <a:avLst>
              <a:gd name="adj" fmla="val 7843"/>
            </a:avLst>
          </a:prstGeom>
          <a:solidFill>
            <a:srgbClr val="FF6B9D">
              <a:alpha val="12000"/>
            </a:srgbClr>
          </a:solidFill>
          <a:ln w="9525">
            <a:solidFill>
              <a:srgbClr val="FF6B9D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6875" y="4743450"/>
            <a:ext cx="3352229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AFF"/>
                </a:solidFill>
                <a:highlight>
                  <a:srgbClr val="FF6B9D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ジャンク食 → 豚が大喜び ＋スコア＋＋＋ </a:t>
            </a:r>
            <a:pPr algn="l" indent="0" marL="0">
              <a:buNone/>
            </a:pPr>
            <a:r>
              <a:rPr lang="en-US" sz="195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♡ 正直に記録したくなる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296400" y="2181225"/>
            <a:ext cx="8039100" cy="3078361"/>
          </a:xfrm>
          <a:prstGeom prst="roundRect">
            <a:avLst>
              <a:gd name="adj" fmla="val 6188"/>
            </a:avLst>
          </a:prstGeom>
          <a:solidFill>
            <a:srgbClr val="FF6B9D">
              <a:alpha val="12000"/>
            </a:srgbClr>
          </a:solidFill>
          <a:ln w="19050">
            <a:solidFill>
              <a:srgbClr val="FF6B9D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20250" y="2466975"/>
            <a:ext cx="761314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ダイエット vs デブエット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620250" y="2971800"/>
            <a:ext cx="3619500" cy="2002036"/>
          </a:xfrm>
          <a:prstGeom prst="roundRect">
            <a:avLst>
              <a:gd name="adj" fmla="val 5709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742551" y="3143250"/>
            <a:ext cx="33748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🥗 ダイエット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742551" y="3495675"/>
            <a:ext cx="337489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3ヶ月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9742551" y="4040386"/>
            <a:ext cx="33748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効果が出るまで…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42551" y="4449961"/>
            <a:ext cx="33748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3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つらい・続かない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392150" y="2971800"/>
            <a:ext cx="3619500" cy="2002036"/>
          </a:xfrm>
          <a:prstGeom prst="roundRect">
            <a:avLst>
              <a:gd name="adj" fmla="val 5709"/>
            </a:avLst>
          </a:prstGeom>
          <a:solidFill>
            <a:srgbClr val="FF6B9D">
              <a:alpha val="15000"/>
            </a:srgbClr>
          </a:solidFill>
          <a:ln w="9525">
            <a:solidFill>
              <a:srgbClr val="FF6B9D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24262" y="3152775"/>
            <a:ext cx="335527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🍜 デブエット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524262" y="3505200"/>
            <a:ext cx="335527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明日</a:t>
            </a:r>
            <a:endParaRPr lang="en-US" sz="3900" dirty="0"/>
          </a:p>
        </p:txBody>
      </p:sp>
      <p:sp>
        <p:nvSpPr>
          <p:cNvPr id="28" name="Text 26"/>
          <p:cNvSpPr/>
          <p:nvPr/>
        </p:nvSpPr>
        <p:spPr>
          <a:xfrm>
            <a:off x="13524262" y="4049911"/>
            <a:ext cx="33552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食べれば すぐ効果！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524262" y="4459486"/>
            <a:ext cx="33552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楽しい・続く！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296400" y="5450086"/>
            <a:ext cx="8039100" cy="1895475"/>
          </a:xfrm>
          <a:prstGeom prst="roundRect">
            <a:avLst>
              <a:gd name="adj" fmla="val 8040"/>
            </a:avLst>
          </a:prstGeom>
          <a:solidFill>
            <a:srgbClr val="FFD166">
              <a:alpha val="10000"/>
            </a:srgbClr>
          </a:solidFill>
          <a:ln w="9525">
            <a:solidFill>
              <a:srgbClr val="FFD166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72625" y="5688211"/>
            <a:ext cx="7711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数字が大きいほど、楽しい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803285" y="6154936"/>
            <a:ext cx="130819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↑ 体重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10803285" y="6774061"/>
            <a:ext cx="130819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スコアUP！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263884" y="6169223"/>
            <a:ext cx="13102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↑ BMI</a:t>
            </a:r>
            <a:endParaRPr lang="en-US" sz="3300" dirty="0"/>
          </a:p>
        </p:txBody>
      </p:sp>
      <p:sp>
        <p:nvSpPr>
          <p:cNvPr id="35" name="Text 33"/>
          <p:cNvSpPr/>
          <p:nvPr/>
        </p:nvSpPr>
        <p:spPr>
          <a:xfrm>
            <a:off x="12263884" y="6759773"/>
            <a:ext cx="13102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ランクUP！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726567" y="6154936"/>
            <a:ext cx="210204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↑ カロリー</a:t>
            </a:r>
            <a:endParaRPr lang="en-US" sz="3300" dirty="0"/>
          </a:p>
        </p:txBody>
      </p:sp>
      <p:sp>
        <p:nvSpPr>
          <p:cNvPr id="37" name="Text 35"/>
          <p:cNvSpPr/>
          <p:nvPr/>
        </p:nvSpPr>
        <p:spPr>
          <a:xfrm>
            <a:off x="13726567" y="6774061"/>
            <a:ext cx="210204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豚が喜ぶ！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804154" y="9534525"/>
            <a:ext cx="58935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ぶたそだて ｜ AWS Summit Japan 2026 4 / 11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03. ターゲットユーザー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038225"/>
            <a:ext cx="1687449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健康を気にし始めた</a:t>
            </a:r>
            <a:pPr algn="l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若者層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2181225"/>
            <a:ext cx="5359301" cy="5800725"/>
          </a:xfrm>
          <a:prstGeom prst="roundRect">
            <a:avLst>
              <a:gd name="adj" fmla="val 355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181225"/>
            <a:ext cx="5359301" cy="2066925"/>
          </a:xfrm>
          <a:prstGeom prst="rect">
            <a:avLst/>
          </a:prstGeom>
          <a:solidFill>
            <a:srgbClr val="251F52"/>
          </a:solidFill>
          <a:ln/>
        </p:spPr>
      </p:sp>
      <p:sp>
        <p:nvSpPr>
          <p:cNvPr id="6" name="Shape 4"/>
          <p:cNvSpPr/>
          <p:nvPr/>
        </p:nvSpPr>
        <p:spPr>
          <a:xfrm>
            <a:off x="3251150" y="2371725"/>
            <a:ext cx="762000" cy="762000"/>
          </a:xfrm>
          <a:prstGeom prst="ellipse">
            <a:avLst/>
          </a:prstGeom>
          <a:solidFill>
            <a:srgbClr val="251F52"/>
          </a:solidFill>
          <a:ln/>
        </p:spPr>
      </p:sp>
      <p:sp>
        <p:nvSpPr>
          <p:cNvPr id="7" name="Text 5"/>
          <p:cNvSpPr/>
          <p:nvPr/>
        </p:nvSpPr>
        <p:spPr>
          <a:xfrm>
            <a:off x="3213050" y="2371725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🙍‍♀️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68325" y="3267075"/>
            <a:ext cx="51276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田中 さくら（26歳）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68325" y="3724275"/>
            <a:ext cx="5127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マーケター（会社員）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419600"/>
            <a:ext cx="5127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リアルな声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4791075"/>
            <a:ext cx="51276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「ジム入会して3回で行かなくなった。月謝だけ払ってる」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5526286"/>
            <a:ext cx="5127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ニーズ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5897761"/>
            <a:ext cx="51276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「続けることより、続けたくなる仕掛けが欲しい」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6632972"/>
            <a:ext cx="5127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課金意欲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7004447"/>
            <a:ext cx="51276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月 ¥800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64201" y="2181225"/>
            <a:ext cx="5359450" cy="5800725"/>
          </a:xfrm>
          <a:prstGeom prst="roundRect">
            <a:avLst>
              <a:gd name="adj" fmla="val 355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64201" y="2181225"/>
            <a:ext cx="5359450" cy="2066925"/>
          </a:xfrm>
          <a:prstGeom prst="rect">
            <a:avLst/>
          </a:prstGeom>
          <a:solidFill>
            <a:srgbClr val="251F52"/>
          </a:solidFill>
          <a:ln/>
        </p:spPr>
      </p:sp>
      <p:sp>
        <p:nvSpPr>
          <p:cNvPr id="18" name="Shape 16"/>
          <p:cNvSpPr/>
          <p:nvPr/>
        </p:nvSpPr>
        <p:spPr>
          <a:xfrm>
            <a:off x="8762851" y="2371725"/>
            <a:ext cx="762000" cy="762000"/>
          </a:xfrm>
          <a:prstGeom prst="ellipse">
            <a:avLst/>
          </a:prstGeom>
          <a:solidFill>
            <a:srgbClr val="251F52"/>
          </a:solidFill>
          <a:ln/>
        </p:spPr>
      </p:sp>
      <p:sp>
        <p:nvSpPr>
          <p:cNvPr id="19" name="Text 17"/>
          <p:cNvSpPr/>
          <p:nvPr/>
        </p:nvSpPr>
        <p:spPr>
          <a:xfrm>
            <a:off x="8724751" y="2371725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🙍‍♂️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580024" y="3267075"/>
            <a:ext cx="512780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山田 けんた（29歳）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580024" y="3724275"/>
            <a:ext cx="51278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エンジニア（IT系）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54701" y="4419600"/>
            <a:ext cx="51278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リアルな声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54701" y="4791075"/>
            <a:ext cx="512780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「深夜に食べたこと記録したら怒られた。それ以来アプリ開いてない」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54701" y="5526286"/>
            <a:ext cx="51278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ニーズ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54701" y="5897761"/>
            <a:ext cx="51278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「データは見たいけど、責められたくない」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54701" y="6312991"/>
            <a:ext cx="51278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課金意欲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54701" y="6684466"/>
            <a:ext cx="51278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月 ¥1,500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976050" y="2181225"/>
            <a:ext cx="5359450" cy="5800725"/>
          </a:xfrm>
          <a:prstGeom prst="roundRect">
            <a:avLst>
              <a:gd name="adj" fmla="val 355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976050" y="2181225"/>
            <a:ext cx="5359450" cy="2066925"/>
          </a:xfrm>
          <a:prstGeom prst="rect">
            <a:avLst/>
          </a:prstGeom>
          <a:solidFill>
            <a:srgbClr val="251F52"/>
          </a:solidFill>
          <a:ln/>
        </p:spPr>
      </p:sp>
      <p:sp>
        <p:nvSpPr>
          <p:cNvPr id="30" name="Shape 28"/>
          <p:cNvSpPr/>
          <p:nvPr/>
        </p:nvSpPr>
        <p:spPr>
          <a:xfrm>
            <a:off x="14274701" y="2371725"/>
            <a:ext cx="762000" cy="762000"/>
          </a:xfrm>
          <a:prstGeom prst="ellipse">
            <a:avLst/>
          </a:prstGeom>
          <a:solidFill>
            <a:srgbClr val="251F52"/>
          </a:solidFill>
          <a:ln/>
        </p:spPr>
      </p:sp>
      <p:sp>
        <p:nvSpPr>
          <p:cNvPr id="31" name="Text 29"/>
          <p:cNvSpPr/>
          <p:nvPr/>
        </p:nvSpPr>
        <p:spPr>
          <a:xfrm>
            <a:off x="14236601" y="2371725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🧑‍🎨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2091874" y="3267075"/>
            <a:ext cx="512780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佐藤 みさき（23歳）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2091874" y="3724275"/>
            <a:ext cx="51278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クリエイター（フリー）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166550" y="4419600"/>
            <a:ext cx="51278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リアルな声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166550" y="4791075"/>
            <a:ext cx="512780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「健康アプリって全部、意識高い人向けじゃないですか」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166550" y="5526286"/>
            <a:ext cx="51278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ニーズ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166550" y="5897761"/>
            <a:ext cx="512780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「ネタにできる、SNSで友達に見せたくなるやつがいい」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166550" y="6632972"/>
            <a:ext cx="51278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課金意欲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166550" y="7004447"/>
            <a:ext cx="51278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月 ¥500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789544" y="8167687"/>
            <a:ext cx="2877922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2,100万</a:t>
            </a:r>
            <a:endParaRPr lang="en-US" sz="3900" dirty="0"/>
          </a:p>
        </p:txBody>
      </p:sp>
      <p:sp>
        <p:nvSpPr>
          <p:cNvPr id="41" name="Text 39"/>
          <p:cNvSpPr/>
          <p:nvPr/>
        </p:nvSpPr>
        <p:spPr>
          <a:xfrm>
            <a:off x="2789544" y="8891588"/>
            <a:ext cx="28779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ヘルスケアアプリ国内MAU</a:t>
            </a:r>
            <a:endParaRPr lang="en-US" sz="1800" dirty="0"/>
          </a:p>
        </p:txBody>
      </p:sp>
      <p:sp>
        <p:nvSpPr>
          <p:cNvPr id="42" name="Text 40">
            <a:hlinkClick r:id="rId1" tooltip=""/>
          </p:cNvPr>
          <p:cNvSpPr/>
          <p:nvPr/>
        </p:nvSpPr>
        <p:spPr>
          <a:xfrm>
            <a:off x="2789544" y="9224963"/>
            <a:ext cx="28779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u="sng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ictr.co.jp 2024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892254" y="8615363"/>
            <a:ext cx="29869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>
                    <a:alpha val="1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6343073" y="8167687"/>
            <a:ext cx="263541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5,800万</a:t>
            </a:r>
            <a:endParaRPr lang="en-US" sz="3900" dirty="0"/>
          </a:p>
        </p:txBody>
      </p:sp>
      <p:sp>
        <p:nvSpPr>
          <p:cNvPr id="45" name="Text 43"/>
          <p:cNvSpPr/>
          <p:nvPr/>
        </p:nvSpPr>
        <p:spPr>
          <a:xfrm>
            <a:off x="6343073" y="8891588"/>
            <a:ext cx="26354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モバイルゲーム国内MAU</a:t>
            </a:r>
            <a:endParaRPr lang="en-US" sz="1800" dirty="0"/>
          </a:p>
        </p:txBody>
      </p:sp>
      <p:sp>
        <p:nvSpPr>
          <p:cNvPr id="46" name="Text 44">
            <a:hlinkClick r:id="rId2" tooltip=""/>
          </p:cNvPr>
          <p:cNvSpPr/>
          <p:nvPr/>
        </p:nvSpPr>
        <p:spPr>
          <a:xfrm>
            <a:off x="6343073" y="9224963"/>
            <a:ext cx="26354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u="sng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statista.com 2024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206805" y="8629650"/>
            <a:ext cx="4191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2700" dirty="0"/>
          </a:p>
        </p:txBody>
      </p:sp>
      <p:sp>
        <p:nvSpPr>
          <p:cNvPr id="48" name="Text 46"/>
          <p:cNvSpPr/>
          <p:nvPr/>
        </p:nvSpPr>
        <p:spPr>
          <a:xfrm>
            <a:off x="9778305" y="8134350"/>
            <a:ext cx="21336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1,400万</a:t>
            </a:r>
            <a:endParaRPr lang="en-US" sz="3900" dirty="0"/>
          </a:p>
        </p:txBody>
      </p:sp>
      <p:sp>
        <p:nvSpPr>
          <p:cNvPr id="49" name="Text 47"/>
          <p:cNvSpPr/>
          <p:nvPr/>
        </p:nvSpPr>
        <p:spPr>
          <a:xfrm>
            <a:off x="9778305" y="8858250"/>
            <a:ext cx="2133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両方利用する重複層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778305" y="9191625"/>
            <a:ext cx="2133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重複率24%推計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140505" y="8601075"/>
            <a:ext cx="5470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🎯</a:t>
            </a:r>
            <a:endParaRPr lang="en-US" sz="2700" dirty="0"/>
          </a:p>
        </p:txBody>
      </p:sp>
      <p:sp>
        <p:nvSpPr>
          <p:cNvPr id="52" name="Text 50"/>
          <p:cNvSpPr/>
          <p:nvPr/>
        </p:nvSpPr>
        <p:spPr>
          <a:xfrm>
            <a:off x="12839421" y="8301038"/>
            <a:ext cx="2655801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10万人</a:t>
            </a:r>
            <a:endParaRPr lang="en-US" sz="3900" dirty="0"/>
          </a:p>
        </p:txBody>
      </p:sp>
      <p:sp>
        <p:nvSpPr>
          <p:cNvPr id="53" name="Text 51"/>
          <p:cNvSpPr/>
          <p:nvPr/>
        </p:nvSpPr>
        <p:spPr>
          <a:xfrm>
            <a:off x="12839421" y="9024938"/>
            <a:ext cx="26558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初年度獲得目標（0.7%）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1787188" y="9534525"/>
            <a:ext cx="59109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ぶたそだて ｜ AWS Summit Japan 2026 5 / 12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A0E2E"/>
          </a:solidFill>
          <a:ln/>
        </p:spPr>
      </p:sp>
      <p:sp>
        <p:nvSpPr>
          <p:cNvPr id="3" name="Text 1"/>
          <p:cNvSpPr/>
          <p:nvPr/>
        </p:nvSpPr>
        <p:spPr>
          <a:xfrm>
            <a:off x="6466432" y="1084064"/>
            <a:ext cx="53551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spc="390" kern="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CORE CONCEPT ｜ コアコンセプト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511712" y="1703189"/>
            <a:ext cx="1126442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アバターは、</a:t>
            </a:r>
            <a:pPr algn="ctr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自分の分身。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031528" y="2922389"/>
            <a:ext cx="10224794" cy="1203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27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豚は単なるキャラクターではない。 あなたの食事・睡眠・運動が、</a:t>
            </a:r>
            <a:pPr algn="ctr" indent="0" marL="0">
              <a:lnSpc>
                <a:spcPct val="170000"/>
              </a:lnSpc>
              <a:buNone/>
            </a:pPr>
            <a:r>
              <a:rPr lang="en-US" sz="27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リアルタイムに豚へ反映される。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33900" y="4926211"/>
            <a:ext cx="3619500" cy="3228975"/>
          </a:xfrm>
          <a:prstGeom prst="roundRect">
            <a:avLst>
              <a:gd name="adj" fmla="val 708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60334" y="5278636"/>
            <a:ext cx="27666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あなたの行動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960334" y="5783461"/>
            <a:ext cx="27666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深夜にラーメンを食べた </a:t>
            </a:r>
            <a:pPr algn="ctr" indent="0" marL="0">
              <a:buNone/>
            </a:pPr>
            <a:r>
              <a:rPr lang="en-US" sz="21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960334" y="6640711"/>
            <a:ext cx="276663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今日は運動をサボった </a:t>
            </a:r>
            <a:pPr algn="ctr" indent="0" marL="0">
              <a:buNone/>
            </a:pPr>
            <a:r>
              <a:rPr lang="en-US" sz="21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60334" y="7421761"/>
            <a:ext cx="276663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7時間しっかり寝た </a:t>
            </a:r>
            <a:pPr algn="ctr" indent="0" marL="0">
              <a:buNone/>
            </a:pPr>
            <a:r>
              <a:rPr lang="en-US" sz="21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724900" y="5988248"/>
            <a:ext cx="8382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0" dirty="0">
                <a:solidFill>
                  <a:srgbClr val="FF6B9D">
                    <a:alpha val="6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⇄</a:t>
            </a:r>
            <a:endParaRPr lang="en-US" sz="6000" dirty="0"/>
          </a:p>
        </p:txBody>
      </p:sp>
      <p:sp>
        <p:nvSpPr>
          <p:cNvPr id="12" name="Shape 10"/>
          <p:cNvSpPr/>
          <p:nvPr/>
        </p:nvSpPr>
        <p:spPr>
          <a:xfrm>
            <a:off x="10134600" y="4697611"/>
            <a:ext cx="3619500" cy="3686175"/>
          </a:xfrm>
          <a:prstGeom prst="roundRect">
            <a:avLst>
              <a:gd name="adj" fmla="val 6316"/>
            </a:avLst>
          </a:prstGeom>
          <a:solidFill>
            <a:srgbClr val="FF6B9D">
              <a:alpha val="12000"/>
            </a:srgbClr>
          </a:solidFill>
          <a:ln w="9525">
            <a:solidFill>
              <a:srgbClr val="FF6B9D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61034" y="5050036"/>
            <a:ext cx="27666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B3C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豚アバターの変化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561034" y="5554861"/>
            <a:ext cx="27666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豚が大喜び </a:t>
            </a:r>
            <a:pPr algn="ctr" indent="0" marL="0">
              <a:buNone/>
            </a:pPr>
            <a:r>
              <a:rPr lang="en-US" sz="21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＋５ぷにぷに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561034" y="6412111"/>
            <a:ext cx="27666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豚がぽっちゃり進化 </a:t>
            </a:r>
            <a:pPr algn="ctr" indent="0" marL="0">
              <a:buNone/>
            </a:pPr>
            <a:r>
              <a:rPr lang="en-US" sz="21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＋２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561034" y="7269361"/>
            <a:ext cx="27666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豚がすこしスリムに </a:t>
            </a:r>
            <a:pPr algn="ctr" indent="0" marL="0">
              <a:buNone/>
            </a:pPr>
            <a:r>
              <a:rPr lang="en-US" sz="21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－１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04140" y="8764786"/>
            <a:ext cx="1567957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豚が太るほど、</a:t>
            </a:r>
            <a:pPr algn="ctr" indent="0" marL="0">
              <a:buNone/>
            </a:pPr>
            <a:r>
              <a:rPr lang="en-US" sz="24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あなたの"本当の自分"</a:t>
            </a:r>
            <a:pPr algn="ctr" indent="0" marL="0">
              <a:buNone/>
            </a:pPr>
            <a:r>
              <a:rPr lang="en-US" sz="24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が可視化される。 体重・BMIの数字が</a:t>
            </a:r>
            <a:pPr algn="ctr" indent="0" marL="0">
              <a:buNone/>
            </a:pPr>
            <a:r>
              <a:rPr lang="en-US" sz="24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大きくなるほど、スコアが上がる。</a:t>
            </a:r>
            <a:endParaRPr lang="en-US" sz="2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15811500" y="7524750"/>
            <a:ext cx="1905000" cy="21907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701105" y="9534525"/>
            <a:ext cx="59109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ぶたそだて ｜ AWS Summit Japan 2026 6 / 12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05. ゲームシステム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038225"/>
            <a:ext cx="1687449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4段階</a:t>
            </a:r>
            <a:pPr algn="l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アバター進化 </a:t>
            </a:r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豊富な豚の種類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2257425"/>
            <a:ext cx="3895725" cy="4791075"/>
          </a:xfrm>
          <a:prstGeom prst="roundRect">
            <a:avLst>
              <a:gd name="adj" fmla="val 489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2525" y="2419350"/>
            <a:ext cx="5210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LV.0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33613" y="2571750"/>
            <a:ext cx="1333500" cy="1333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43163" y="4057650"/>
            <a:ext cx="9906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スリム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952923" y="4505325"/>
            <a:ext cx="19710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😢 かわいそう…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1152525" y="5124450"/>
            <a:ext cx="3495675" cy="485775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233440" y="5200650"/>
            <a:ext cx="33338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毎日10,000歩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152525" y="5686425"/>
            <a:ext cx="3495675" cy="485775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233440" y="5762625"/>
            <a:ext cx="33338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ヘルシー食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152525" y="6248400"/>
            <a:ext cx="3495675" cy="485775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233440" y="6324600"/>
            <a:ext cx="33338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7時間睡眠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772025" y="4462463"/>
            <a:ext cx="3429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114925" y="2257425"/>
            <a:ext cx="3895725" cy="4791075"/>
          </a:xfrm>
          <a:prstGeom prst="roundRect">
            <a:avLst>
              <a:gd name="adj" fmla="val 489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14950" y="2419350"/>
            <a:ext cx="5210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LV.1</a:t>
            </a:r>
            <a:endParaRPr lang="en-US" sz="1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96038" y="2571750"/>
            <a:ext cx="1333500" cy="13335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605588" y="4057650"/>
            <a:ext cx="9906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ふつう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6239173" y="4505325"/>
            <a:ext cx="17234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😐 物足りない</a:t>
            </a:r>
            <a:endParaRPr lang="en-US" sz="1950" dirty="0"/>
          </a:p>
        </p:txBody>
      </p:sp>
      <p:sp>
        <p:nvSpPr>
          <p:cNvPr id="21" name="Shape 17"/>
          <p:cNvSpPr/>
          <p:nvPr/>
        </p:nvSpPr>
        <p:spPr>
          <a:xfrm>
            <a:off x="5314950" y="5124450"/>
            <a:ext cx="3495675" cy="485775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5395865" y="5200650"/>
            <a:ext cx="33338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そこそこ食事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314950" y="5686425"/>
            <a:ext cx="3495675" cy="485775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5395865" y="5762625"/>
            <a:ext cx="33338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たまに運動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314950" y="6248400"/>
            <a:ext cx="3495675" cy="485775"/>
          </a:xfrm>
          <a:prstGeom prst="roundRect">
            <a:avLst>
              <a:gd name="adj" fmla="val 15686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5395865" y="6324600"/>
            <a:ext cx="33338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6時間睡眠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8934450" y="4462463"/>
            <a:ext cx="3429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2100" dirty="0"/>
          </a:p>
        </p:txBody>
      </p:sp>
      <p:sp>
        <p:nvSpPr>
          <p:cNvPr id="28" name="Shape 24"/>
          <p:cNvSpPr/>
          <p:nvPr/>
        </p:nvSpPr>
        <p:spPr>
          <a:xfrm>
            <a:off x="9277350" y="2257425"/>
            <a:ext cx="3895725" cy="4791075"/>
          </a:xfrm>
          <a:prstGeom prst="roundRect">
            <a:avLst>
              <a:gd name="adj" fmla="val 489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477375" y="2419350"/>
            <a:ext cx="5210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LV.2</a:t>
            </a:r>
            <a:endParaRPr lang="en-US" sz="18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558463" y="2571750"/>
            <a:ext cx="1333500" cy="13335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463213" y="4057650"/>
            <a:ext cx="1600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ぽっちゃり</a:t>
            </a:r>
            <a:endParaRPr lang="en-US" sz="2400" dirty="0"/>
          </a:p>
        </p:txBody>
      </p:sp>
      <p:sp>
        <p:nvSpPr>
          <p:cNvPr id="32" name="Text 27"/>
          <p:cNvSpPr/>
          <p:nvPr/>
        </p:nvSpPr>
        <p:spPr>
          <a:xfrm>
            <a:off x="10525423" y="4505325"/>
            <a:ext cx="14757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😊 いい感じ</a:t>
            </a:r>
            <a:endParaRPr lang="en-US" sz="1950" dirty="0"/>
          </a:p>
        </p:txBody>
      </p:sp>
      <p:sp>
        <p:nvSpPr>
          <p:cNvPr id="33" name="Shape 28"/>
          <p:cNvSpPr/>
          <p:nvPr/>
        </p:nvSpPr>
        <p:spPr>
          <a:xfrm>
            <a:off x="9477375" y="5124450"/>
            <a:ext cx="3495675" cy="485775"/>
          </a:xfrm>
          <a:prstGeom prst="roundRect">
            <a:avLst>
              <a:gd name="adj" fmla="val 15686"/>
            </a:avLst>
          </a:prstGeom>
          <a:solidFill>
            <a:srgbClr val="FF6B9D">
              <a:alpha val="1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9558290" y="5200650"/>
            <a:ext cx="33338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ジャンクフード</a:t>
            </a:r>
            <a:endParaRPr lang="en-US" sz="1800" dirty="0"/>
          </a:p>
        </p:txBody>
      </p:sp>
      <p:sp>
        <p:nvSpPr>
          <p:cNvPr id="35" name="Shape 30"/>
          <p:cNvSpPr/>
          <p:nvPr/>
        </p:nvSpPr>
        <p:spPr>
          <a:xfrm>
            <a:off x="9477375" y="5686425"/>
            <a:ext cx="3495675" cy="485775"/>
          </a:xfrm>
          <a:prstGeom prst="roundRect">
            <a:avLst>
              <a:gd name="adj" fmla="val 15686"/>
            </a:avLst>
          </a:prstGeom>
          <a:solidFill>
            <a:srgbClr val="FF6B9D">
              <a:alpha val="1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9558290" y="5762625"/>
            <a:ext cx="33338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ごろごろ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9477375" y="6248400"/>
            <a:ext cx="3495675" cy="485775"/>
          </a:xfrm>
          <a:prstGeom prst="roundRect">
            <a:avLst>
              <a:gd name="adj" fmla="val 15686"/>
            </a:avLst>
          </a:prstGeom>
          <a:solidFill>
            <a:srgbClr val="FF6B9D">
              <a:alpha val="1000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9558290" y="6324600"/>
            <a:ext cx="33338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ゲーム三昧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13096875" y="4462463"/>
            <a:ext cx="3429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2100" dirty="0"/>
          </a:p>
        </p:txBody>
      </p:sp>
      <p:sp>
        <p:nvSpPr>
          <p:cNvPr id="40" name="Shape 35"/>
          <p:cNvSpPr/>
          <p:nvPr/>
        </p:nvSpPr>
        <p:spPr>
          <a:xfrm>
            <a:off x="13361861" y="2161604"/>
            <a:ext cx="4051553" cy="4982718"/>
          </a:xfrm>
          <a:prstGeom prst="roundRect">
            <a:avLst>
              <a:gd name="adj" fmla="val 4702"/>
            </a:avLst>
          </a:prstGeom>
          <a:solidFill>
            <a:srgbClr val="FF6B9D">
              <a:alpha val="12000"/>
            </a:srgbClr>
          </a:solidFill>
          <a:ln w="9525">
            <a:solidFill>
              <a:srgbClr val="FF6B9D">
                <a:alpha val="40000"/>
              </a:srgbClr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7012841" y="1973390"/>
            <a:ext cx="565928" cy="513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👑</a:t>
            </a:r>
            <a:endParaRPr lang="en-US" sz="2700" dirty="0"/>
          </a:p>
        </p:txBody>
      </p:sp>
      <p:sp>
        <p:nvSpPr>
          <p:cNvPr id="42" name="Text 37"/>
          <p:cNvSpPr/>
          <p:nvPr/>
        </p:nvSpPr>
        <p:spPr>
          <a:xfrm>
            <a:off x="13569887" y="2330005"/>
            <a:ext cx="538840" cy="315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LV.3</a:t>
            </a:r>
            <a:endParaRPr lang="en-US" sz="18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4694217" y="2488502"/>
            <a:ext cx="1386841" cy="138684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4595158" y="4033837"/>
            <a:ext cx="1661159" cy="50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まるまる豚</a:t>
            </a:r>
            <a:endParaRPr lang="en-US" sz="2400" dirty="0"/>
          </a:p>
        </p:txBody>
      </p:sp>
      <p:sp>
        <p:nvSpPr>
          <p:cNvPr id="45" name="Text 39"/>
          <p:cNvSpPr/>
          <p:nvPr/>
        </p:nvSpPr>
        <p:spPr>
          <a:xfrm>
            <a:off x="14788635" y="4499420"/>
            <a:ext cx="1274206" cy="40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🩷 最高♡</a:t>
            </a:r>
            <a:endParaRPr lang="en-US" sz="1950" dirty="0"/>
          </a:p>
        </p:txBody>
      </p:sp>
      <p:sp>
        <p:nvSpPr>
          <p:cNvPr id="46" name="Shape 40"/>
          <p:cNvSpPr/>
          <p:nvPr/>
        </p:nvSpPr>
        <p:spPr>
          <a:xfrm>
            <a:off x="13569887" y="5143309"/>
            <a:ext cx="3635501" cy="505206"/>
          </a:xfrm>
          <a:prstGeom prst="roundRect">
            <a:avLst>
              <a:gd name="adj" fmla="val 15083"/>
            </a:avLst>
          </a:prstGeom>
          <a:solidFill>
            <a:srgbClr val="FF6B9D">
              <a:alpha val="10000"/>
            </a:srgbClr>
          </a:solidFill>
          <a:ln/>
        </p:spPr>
      </p:sp>
      <p:sp>
        <p:nvSpPr>
          <p:cNvPr id="47" name="Text 41"/>
          <p:cNvSpPr/>
          <p:nvPr/>
        </p:nvSpPr>
        <p:spPr>
          <a:xfrm>
            <a:off x="13648704" y="5219509"/>
            <a:ext cx="3477866" cy="390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深夜スイーツ</a:t>
            </a:r>
            <a:endParaRPr lang="en-US" sz="1800" dirty="0"/>
          </a:p>
        </p:txBody>
      </p:sp>
      <p:sp>
        <p:nvSpPr>
          <p:cNvPr id="48" name="Shape 42"/>
          <p:cNvSpPr/>
          <p:nvPr/>
        </p:nvSpPr>
        <p:spPr>
          <a:xfrm>
            <a:off x="13569887" y="5727763"/>
            <a:ext cx="3635501" cy="505206"/>
          </a:xfrm>
          <a:prstGeom prst="roundRect">
            <a:avLst>
              <a:gd name="adj" fmla="val 15083"/>
            </a:avLst>
          </a:prstGeom>
          <a:solidFill>
            <a:srgbClr val="FF6B9D">
              <a:alpha val="10000"/>
            </a:srgbClr>
          </a:solidFill>
          <a:ln/>
        </p:spPr>
      </p:sp>
      <p:sp>
        <p:nvSpPr>
          <p:cNvPr id="49" name="Text 43"/>
          <p:cNvSpPr/>
          <p:nvPr/>
        </p:nvSpPr>
        <p:spPr>
          <a:xfrm>
            <a:off x="13648704" y="5803963"/>
            <a:ext cx="3477866" cy="390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運動ゼロ</a:t>
            </a:r>
            <a:endParaRPr lang="en-US" sz="1800" dirty="0"/>
          </a:p>
        </p:txBody>
      </p:sp>
      <p:sp>
        <p:nvSpPr>
          <p:cNvPr id="50" name="Shape 44"/>
          <p:cNvSpPr/>
          <p:nvPr/>
        </p:nvSpPr>
        <p:spPr>
          <a:xfrm>
            <a:off x="13569887" y="6312217"/>
            <a:ext cx="3635501" cy="505206"/>
          </a:xfrm>
          <a:prstGeom prst="roundRect">
            <a:avLst>
              <a:gd name="adj" fmla="val 15083"/>
            </a:avLst>
          </a:prstGeom>
          <a:solidFill>
            <a:srgbClr val="FF6B9D">
              <a:alpha val="10000"/>
            </a:srgbClr>
          </a:solidFill>
          <a:ln/>
        </p:spPr>
      </p:sp>
      <p:sp>
        <p:nvSpPr>
          <p:cNvPr id="51" name="Text 45"/>
          <p:cNvSpPr/>
          <p:nvPr/>
        </p:nvSpPr>
        <p:spPr>
          <a:xfrm>
            <a:off x="13648704" y="6388417"/>
            <a:ext cx="3477866" cy="390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暴飲暴食</a:t>
            </a:r>
            <a:endParaRPr lang="en-US" sz="1800" dirty="0"/>
          </a:p>
        </p:txBody>
      </p:sp>
      <p:sp>
        <p:nvSpPr>
          <p:cNvPr id="52" name="Shape 46"/>
          <p:cNvSpPr/>
          <p:nvPr/>
        </p:nvSpPr>
        <p:spPr>
          <a:xfrm>
            <a:off x="952500" y="7315200"/>
            <a:ext cx="16383000" cy="2581275"/>
          </a:xfrm>
          <a:prstGeom prst="roundRect">
            <a:avLst>
              <a:gd name="adj" fmla="val 590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1228725" y="7515225"/>
            <a:ext cx="1630546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豚の種類（アンロック制）</a:t>
            </a:r>
            <a:endParaRPr lang="en-US" sz="1950" dirty="0"/>
          </a:p>
        </p:txBody>
      </p:sp>
      <p:sp>
        <p:nvSpPr>
          <p:cNvPr id="54" name="Shape 48"/>
          <p:cNvSpPr/>
          <p:nvPr/>
        </p:nvSpPr>
        <p:spPr>
          <a:xfrm>
            <a:off x="1228725" y="8020050"/>
            <a:ext cx="2511326" cy="1676400"/>
          </a:xfrm>
          <a:prstGeom prst="roundRect">
            <a:avLst>
              <a:gd name="adj" fmla="val 6818"/>
            </a:avLst>
          </a:prstGeom>
          <a:solidFill>
            <a:srgbClr val="FF6B9D">
              <a:alpha val="12000"/>
            </a:srgbClr>
          </a:solidFill>
          <a:ln w="9525">
            <a:solidFill>
              <a:srgbClr val="FF6B9D">
                <a:alpha val="30000"/>
              </a:srgbClr>
            </a:solidFill>
            <a:prstDash val="solid"/>
          </a:ln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179588" y="8162925"/>
            <a:ext cx="609600" cy="609600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1276350" y="8886825"/>
            <a:ext cx="24160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ピンクぶた</a:t>
            </a:r>
            <a:endParaRPr lang="en-US" sz="1800" dirty="0"/>
          </a:p>
        </p:txBody>
      </p:sp>
      <p:sp>
        <p:nvSpPr>
          <p:cNvPr id="57" name="Text 50"/>
          <p:cNvSpPr/>
          <p:nvPr/>
        </p:nvSpPr>
        <p:spPr>
          <a:xfrm>
            <a:off x="1276350" y="9220200"/>
            <a:ext cx="24160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初期種</a:t>
            </a:r>
            <a:endParaRPr lang="en-US" sz="1800" dirty="0"/>
          </a:p>
        </p:txBody>
      </p:sp>
      <p:sp>
        <p:nvSpPr>
          <p:cNvPr id="58" name="Shape 51"/>
          <p:cNvSpPr/>
          <p:nvPr/>
        </p:nvSpPr>
        <p:spPr>
          <a:xfrm>
            <a:off x="3892451" y="8020050"/>
            <a:ext cx="2511475" cy="1676400"/>
          </a:xfrm>
          <a:prstGeom prst="roundRect">
            <a:avLst>
              <a:gd name="adj" fmla="val 6818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59" name="Shape 52"/>
          <p:cNvSpPr/>
          <p:nvPr/>
        </p:nvSpPr>
        <p:spPr>
          <a:xfrm>
            <a:off x="4843314" y="8153400"/>
            <a:ext cx="609600" cy="60960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60" name="Text 53"/>
          <p:cNvSpPr/>
          <p:nvPr/>
        </p:nvSpPr>
        <p:spPr>
          <a:xfrm>
            <a:off x="4805214" y="8153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🐗</a:t>
            </a:r>
            <a:endParaRPr lang="en-US" sz="2400" dirty="0"/>
          </a:p>
        </p:txBody>
      </p:sp>
      <p:sp>
        <p:nvSpPr>
          <p:cNvPr id="61" name="Text 54"/>
          <p:cNvSpPr/>
          <p:nvPr/>
        </p:nvSpPr>
        <p:spPr>
          <a:xfrm>
            <a:off x="3930551" y="8839200"/>
            <a:ext cx="2435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黒豚</a:t>
            </a:r>
            <a:endParaRPr lang="en-US" sz="1800" dirty="0"/>
          </a:p>
        </p:txBody>
      </p:sp>
      <p:sp>
        <p:nvSpPr>
          <p:cNvPr id="62" name="Text 55"/>
          <p:cNvSpPr/>
          <p:nvPr/>
        </p:nvSpPr>
        <p:spPr>
          <a:xfrm>
            <a:off x="3930551" y="9172575"/>
            <a:ext cx="2435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Lv.3到達</a:t>
            </a:r>
            <a:endParaRPr lang="en-US" sz="1800" dirty="0"/>
          </a:p>
        </p:txBody>
      </p:sp>
      <p:sp>
        <p:nvSpPr>
          <p:cNvPr id="63" name="Shape 56"/>
          <p:cNvSpPr/>
          <p:nvPr/>
        </p:nvSpPr>
        <p:spPr>
          <a:xfrm>
            <a:off x="6556325" y="8020050"/>
            <a:ext cx="2511326" cy="1676400"/>
          </a:xfrm>
          <a:prstGeom prst="roundRect">
            <a:avLst>
              <a:gd name="adj" fmla="val 6818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64" name="Shape 57"/>
          <p:cNvSpPr/>
          <p:nvPr/>
        </p:nvSpPr>
        <p:spPr>
          <a:xfrm>
            <a:off x="7507188" y="8153400"/>
            <a:ext cx="609600" cy="609600"/>
          </a:xfrm>
          <a:prstGeom prst="ellipse">
            <a:avLst/>
          </a:prstGeom>
          <a:solidFill>
            <a:srgbClr val="FFD6E8"/>
          </a:solidFill>
          <a:ln/>
        </p:spPr>
      </p:sp>
      <p:sp>
        <p:nvSpPr>
          <p:cNvPr id="65" name="Text 58"/>
          <p:cNvSpPr/>
          <p:nvPr/>
        </p:nvSpPr>
        <p:spPr>
          <a:xfrm>
            <a:off x="7469088" y="8153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🐷</a:t>
            </a:r>
            <a:endParaRPr lang="en-US" sz="2400" dirty="0"/>
          </a:p>
        </p:txBody>
      </p:sp>
      <p:sp>
        <p:nvSpPr>
          <p:cNvPr id="66" name="Text 59"/>
          <p:cNvSpPr/>
          <p:nvPr/>
        </p:nvSpPr>
        <p:spPr>
          <a:xfrm>
            <a:off x="6594425" y="8839200"/>
            <a:ext cx="24351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ミニぶた</a:t>
            </a:r>
            <a:endParaRPr lang="en-US" sz="1800" dirty="0"/>
          </a:p>
        </p:txBody>
      </p:sp>
      <p:sp>
        <p:nvSpPr>
          <p:cNvPr id="67" name="Text 60"/>
          <p:cNvSpPr/>
          <p:nvPr/>
        </p:nvSpPr>
        <p:spPr>
          <a:xfrm>
            <a:off x="6594425" y="9172575"/>
            <a:ext cx="24351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プレミアム</a:t>
            </a:r>
            <a:endParaRPr lang="en-US" sz="1800" dirty="0"/>
          </a:p>
        </p:txBody>
      </p:sp>
      <p:sp>
        <p:nvSpPr>
          <p:cNvPr id="68" name="Shape 61"/>
          <p:cNvSpPr/>
          <p:nvPr/>
        </p:nvSpPr>
        <p:spPr>
          <a:xfrm>
            <a:off x="9220051" y="8020050"/>
            <a:ext cx="2511475" cy="1676400"/>
          </a:xfrm>
          <a:prstGeom prst="roundRect">
            <a:avLst>
              <a:gd name="adj" fmla="val 6818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69" name="Shape 62"/>
          <p:cNvSpPr/>
          <p:nvPr/>
        </p:nvSpPr>
        <p:spPr>
          <a:xfrm>
            <a:off x="10170914" y="8153400"/>
            <a:ext cx="609600" cy="609600"/>
          </a:xfrm>
          <a:prstGeom prst="ellipse">
            <a:avLst/>
          </a:prstGeom>
          <a:solidFill>
            <a:srgbClr val="1A3A2A"/>
          </a:solidFill>
          <a:ln/>
        </p:spPr>
      </p:sp>
      <p:sp>
        <p:nvSpPr>
          <p:cNvPr id="70" name="Text 63"/>
          <p:cNvSpPr/>
          <p:nvPr/>
        </p:nvSpPr>
        <p:spPr>
          <a:xfrm>
            <a:off x="10132814" y="8153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⛩️</a:t>
            </a:r>
            <a:endParaRPr lang="en-US" sz="2400" dirty="0"/>
          </a:p>
        </p:txBody>
      </p:sp>
      <p:sp>
        <p:nvSpPr>
          <p:cNvPr id="71" name="Text 64"/>
          <p:cNvSpPr/>
          <p:nvPr/>
        </p:nvSpPr>
        <p:spPr>
          <a:xfrm>
            <a:off x="9258151" y="8839200"/>
            <a:ext cx="2435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サムライぶた</a:t>
            </a:r>
            <a:endParaRPr lang="en-US" sz="1800" dirty="0"/>
          </a:p>
        </p:txBody>
      </p:sp>
      <p:sp>
        <p:nvSpPr>
          <p:cNvPr id="72" name="Text 65"/>
          <p:cNvSpPr/>
          <p:nvPr/>
        </p:nvSpPr>
        <p:spPr>
          <a:xfrm>
            <a:off x="9258151" y="9172575"/>
            <a:ext cx="2435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限定コラボ</a:t>
            </a:r>
            <a:endParaRPr lang="en-US" sz="1800" dirty="0"/>
          </a:p>
        </p:txBody>
      </p:sp>
      <p:sp>
        <p:nvSpPr>
          <p:cNvPr id="73" name="Shape 66"/>
          <p:cNvSpPr/>
          <p:nvPr/>
        </p:nvSpPr>
        <p:spPr>
          <a:xfrm>
            <a:off x="11883926" y="8020050"/>
            <a:ext cx="2511475" cy="1676400"/>
          </a:xfrm>
          <a:prstGeom prst="roundRect">
            <a:avLst>
              <a:gd name="adj" fmla="val 6818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74" name="Shape 67"/>
          <p:cNvSpPr/>
          <p:nvPr/>
        </p:nvSpPr>
        <p:spPr>
          <a:xfrm>
            <a:off x="12834789" y="8153400"/>
            <a:ext cx="609600" cy="609600"/>
          </a:xfrm>
          <a:prstGeom prst="ellipse">
            <a:avLst/>
          </a:prstGeom>
          <a:solidFill>
            <a:srgbClr val="0D2A3A"/>
          </a:solidFill>
          <a:ln/>
        </p:spPr>
      </p:sp>
      <p:sp>
        <p:nvSpPr>
          <p:cNvPr id="75" name="Text 68"/>
          <p:cNvSpPr/>
          <p:nvPr/>
        </p:nvSpPr>
        <p:spPr>
          <a:xfrm>
            <a:off x="12796689" y="8153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🤖</a:t>
            </a:r>
            <a:endParaRPr lang="en-US" sz="2400" dirty="0"/>
          </a:p>
        </p:txBody>
      </p:sp>
      <p:sp>
        <p:nvSpPr>
          <p:cNvPr id="76" name="Text 69"/>
          <p:cNvSpPr/>
          <p:nvPr/>
        </p:nvSpPr>
        <p:spPr>
          <a:xfrm>
            <a:off x="11922026" y="8839200"/>
            <a:ext cx="2435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ロボぶた</a:t>
            </a:r>
            <a:endParaRPr lang="en-US" sz="1800" dirty="0"/>
          </a:p>
        </p:txBody>
      </p:sp>
      <p:sp>
        <p:nvSpPr>
          <p:cNvPr id="77" name="Text 70"/>
          <p:cNvSpPr/>
          <p:nvPr/>
        </p:nvSpPr>
        <p:spPr>
          <a:xfrm>
            <a:off x="11922026" y="9172575"/>
            <a:ext cx="24352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AWS限定</a:t>
            </a:r>
            <a:endParaRPr lang="en-US" sz="1800" dirty="0"/>
          </a:p>
        </p:txBody>
      </p:sp>
      <p:sp>
        <p:nvSpPr>
          <p:cNvPr id="78" name="Shape 71"/>
          <p:cNvSpPr/>
          <p:nvPr/>
        </p:nvSpPr>
        <p:spPr>
          <a:xfrm>
            <a:off x="14547800" y="8020050"/>
            <a:ext cx="2511326" cy="1676400"/>
          </a:xfrm>
          <a:prstGeom prst="roundRect">
            <a:avLst>
              <a:gd name="adj" fmla="val 68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20000"/>
              </a:srgbClr>
            </a:solidFill>
            <a:prstDash val="dash"/>
          </a:ln>
        </p:spPr>
      </p:sp>
      <p:sp>
        <p:nvSpPr>
          <p:cNvPr id="79" name="Shape 72"/>
          <p:cNvSpPr/>
          <p:nvPr/>
        </p:nvSpPr>
        <p:spPr>
          <a:xfrm>
            <a:off x="15498663" y="8162925"/>
            <a:ext cx="609600" cy="6096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0" name="Text 73"/>
          <p:cNvSpPr/>
          <p:nvPr/>
        </p:nvSpPr>
        <p:spPr>
          <a:xfrm>
            <a:off x="15460563" y="81629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＋</a:t>
            </a:r>
            <a:endParaRPr lang="en-US" sz="2400" dirty="0"/>
          </a:p>
        </p:txBody>
      </p:sp>
      <p:sp>
        <p:nvSpPr>
          <p:cNvPr id="81" name="Text 74"/>
          <p:cNvSpPr/>
          <p:nvPr/>
        </p:nvSpPr>
        <p:spPr>
          <a:xfrm>
            <a:off x="14595425" y="8848725"/>
            <a:ext cx="24160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続々追加</a:t>
            </a:r>
            <a:endParaRPr lang="en-US" sz="1800" dirty="0"/>
          </a:p>
        </p:txBody>
      </p:sp>
      <p:sp>
        <p:nvSpPr>
          <p:cNvPr id="82" name="Text 75"/>
          <p:cNvSpPr/>
          <p:nvPr/>
        </p:nvSpPr>
        <p:spPr>
          <a:xfrm>
            <a:off x="14595425" y="9182100"/>
            <a:ext cx="24160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コラボ予定</a:t>
            </a:r>
            <a:endParaRPr lang="en-US" sz="1800" dirty="0"/>
          </a:p>
        </p:txBody>
      </p:sp>
      <p:sp>
        <p:nvSpPr>
          <p:cNvPr id="83" name="Text 76"/>
          <p:cNvSpPr/>
          <p:nvPr/>
        </p:nvSpPr>
        <p:spPr>
          <a:xfrm>
            <a:off x="11787188" y="9534525"/>
            <a:ext cx="59109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ぶたそだて ｜ AWS Summit Japan 2026 7 / 12</a:t>
            </a:r>
            <a:endParaRPr lang="en-US" sz="1800" dirty="0"/>
          </a:p>
        </p:txBody>
      </p:sp>
      <p:sp>
        <p:nvSpPr>
          <p:cNvPr id="84" name="Shape 77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06. ぶたバトル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038225"/>
            <a:ext cx="1687449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育てた</a:t>
            </a:r>
            <a:pPr algn="l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分身</a:t>
            </a:r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同士を戦わせろ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2181225"/>
            <a:ext cx="8039100" cy="3310830"/>
          </a:xfrm>
          <a:prstGeom prst="roundRect">
            <a:avLst>
              <a:gd name="adj" fmla="val 5754"/>
            </a:avLst>
          </a:prstGeom>
          <a:solidFill>
            <a:srgbClr val="FF6B9D">
              <a:alpha val="10000"/>
            </a:srgbClr>
          </a:solidFill>
          <a:ln w="9525">
            <a:solidFill>
              <a:srgbClr val="FF6B9D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6825" y="2457450"/>
            <a:ext cx="76327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バトルの仕組み</a:t>
            </a:r>
            <a:endParaRPr lang="en-US" sz="2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0" y="3028950"/>
            <a:ext cx="952500" cy="10953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90875" y="4238625"/>
            <a:ext cx="13144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あなたの豚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695825" y="3433763"/>
            <a:ext cx="87630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VS</a:t>
            </a:r>
            <a:endParaRPr lang="en-US" sz="4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575" y="3047405"/>
            <a:ext cx="952500" cy="10583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86425" y="4220021"/>
            <a:ext cx="10668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相手の豚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1155668" y="4819650"/>
            <a:ext cx="763276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リアルな生活データが</a:t>
            </a:r>
            <a:pPr algn="ctr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バトルステータス</a:t>
            </a:r>
            <a:pPr algn="ctr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に変換される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952500" y="5682555"/>
            <a:ext cx="8039100" cy="2533650"/>
          </a:xfrm>
          <a:prstGeom prst="roundRect">
            <a:avLst>
              <a:gd name="adj" fmla="val 601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219200" y="5911155"/>
            <a:ext cx="773087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バトルモード</a:t>
            </a:r>
            <a:endParaRPr lang="en-US" sz="1950" dirty="0"/>
          </a:p>
        </p:txBody>
      </p:sp>
      <p:sp>
        <p:nvSpPr>
          <p:cNvPr id="14" name="Shape 10"/>
          <p:cNvSpPr/>
          <p:nvPr/>
        </p:nvSpPr>
        <p:spPr>
          <a:xfrm>
            <a:off x="1219200" y="6415980"/>
            <a:ext cx="1460897" cy="447675"/>
          </a:xfrm>
          <a:prstGeom prst="roundRect">
            <a:avLst>
              <a:gd name="adj" fmla="val 50000"/>
            </a:avLst>
          </a:prstGeom>
          <a:solidFill>
            <a:srgbClr val="FF6B9D"/>
          </a:solidFill>
          <a:ln/>
        </p:spPr>
      </p:sp>
      <p:sp>
        <p:nvSpPr>
          <p:cNvPr id="15" name="Text 11"/>
          <p:cNvSpPr/>
          <p:nvPr/>
        </p:nvSpPr>
        <p:spPr>
          <a:xfrm>
            <a:off x="1390650" y="6473130"/>
            <a:ext cx="11941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非同期PvP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832497" y="6463605"/>
            <a:ext cx="561435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いつでも対戦リクエスト。相手の豚と自動バトル</a:t>
            </a:r>
            <a:endParaRPr lang="en-US" sz="1950" dirty="0"/>
          </a:p>
        </p:txBody>
      </p:sp>
      <p:sp>
        <p:nvSpPr>
          <p:cNvPr id="17" name="Shape 13"/>
          <p:cNvSpPr/>
          <p:nvPr/>
        </p:nvSpPr>
        <p:spPr>
          <a:xfrm>
            <a:off x="1219200" y="6977955"/>
            <a:ext cx="1707654" cy="447675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/>
        </p:spPr>
      </p:sp>
      <p:sp>
        <p:nvSpPr>
          <p:cNvPr id="18" name="Text 14"/>
          <p:cNvSpPr/>
          <p:nvPr/>
        </p:nvSpPr>
        <p:spPr>
          <a:xfrm>
            <a:off x="1390650" y="7035105"/>
            <a:ext cx="144095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0B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リアルタイム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079254" y="7025580"/>
            <a:ext cx="48389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友達・ランダムマッチでリアルタイム対戦</a:t>
            </a:r>
            <a:endParaRPr lang="en-US" sz="1950" dirty="0"/>
          </a:p>
        </p:txBody>
      </p:sp>
      <p:sp>
        <p:nvSpPr>
          <p:cNvPr id="20" name="Shape 16"/>
          <p:cNvSpPr/>
          <p:nvPr/>
        </p:nvSpPr>
        <p:spPr>
          <a:xfrm>
            <a:off x="1219200" y="7539930"/>
            <a:ext cx="1485900" cy="447675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/>
        </p:spPr>
      </p:sp>
      <p:sp>
        <p:nvSpPr>
          <p:cNvPr id="21" name="Text 17"/>
          <p:cNvSpPr/>
          <p:nvPr/>
        </p:nvSpPr>
        <p:spPr>
          <a:xfrm>
            <a:off x="1390650" y="7597080"/>
            <a:ext cx="1219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0B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週次リーグ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2857500" y="7587555"/>
            <a:ext cx="405843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週ごとのシーズンランキング・報酬</a:t>
            </a:r>
            <a:endParaRPr lang="en-US" sz="1950" dirty="0"/>
          </a:p>
        </p:txBody>
      </p:sp>
      <p:sp>
        <p:nvSpPr>
          <p:cNvPr id="23" name="Shape 19"/>
          <p:cNvSpPr/>
          <p:nvPr/>
        </p:nvSpPr>
        <p:spPr>
          <a:xfrm>
            <a:off x="9296400" y="2181225"/>
            <a:ext cx="8039100" cy="3476625"/>
          </a:xfrm>
          <a:prstGeom prst="roundRect">
            <a:avLst>
              <a:gd name="adj" fmla="val 438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9563100" y="2409825"/>
            <a:ext cx="773087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ステータス ＝ あなたの実生活</a:t>
            </a:r>
            <a:endParaRPr lang="en-US" sz="1950" dirty="0"/>
          </a:p>
        </p:txBody>
      </p:sp>
      <p:sp>
        <p:nvSpPr>
          <p:cNvPr id="25" name="Shape 21"/>
          <p:cNvSpPr/>
          <p:nvPr/>
        </p:nvSpPr>
        <p:spPr>
          <a:xfrm>
            <a:off x="9563100" y="2914650"/>
            <a:ext cx="3695700" cy="1200150"/>
          </a:xfrm>
          <a:prstGeom prst="roundRect">
            <a:avLst>
              <a:gd name="adj" fmla="val 9524"/>
            </a:avLst>
          </a:prstGeom>
          <a:solidFill>
            <a:srgbClr val="FF6B9D">
              <a:alpha val="10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9664637" y="3067050"/>
            <a:ext cx="3492627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デブ度</a:t>
            </a:r>
            <a:endParaRPr lang="en-US" sz="2700" dirty="0"/>
          </a:p>
        </p:txBody>
      </p:sp>
      <p:sp>
        <p:nvSpPr>
          <p:cNvPr id="27" name="Text 23"/>
          <p:cNvSpPr/>
          <p:nvPr/>
        </p:nvSpPr>
        <p:spPr>
          <a:xfrm>
            <a:off x="9664637" y="3629025"/>
            <a:ext cx="34926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体重・BMI → 攻撃力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13373100" y="2914650"/>
            <a:ext cx="3695700" cy="1200150"/>
          </a:xfrm>
          <a:prstGeom prst="roundRect">
            <a:avLst>
              <a:gd name="adj" fmla="val 9524"/>
            </a:avLst>
          </a:prstGeom>
          <a:solidFill>
            <a:srgbClr val="FF6B9D">
              <a:alpha val="1000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13474637" y="3067050"/>
            <a:ext cx="3492627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食事スキル</a:t>
            </a:r>
            <a:endParaRPr lang="en-US" sz="2700" dirty="0"/>
          </a:p>
        </p:txBody>
      </p:sp>
      <p:sp>
        <p:nvSpPr>
          <p:cNvPr id="30" name="Text 26"/>
          <p:cNvSpPr/>
          <p:nvPr/>
        </p:nvSpPr>
        <p:spPr>
          <a:xfrm>
            <a:off x="13474637" y="3629025"/>
            <a:ext cx="34926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ジャンク食 → 必殺技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9563100" y="4229100"/>
            <a:ext cx="3695700" cy="1200150"/>
          </a:xfrm>
          <a:prstGeom prst="roundRect">
            <a:avLst>
              <a:gd name="adj" fmla="val 9524"/>
            </a:avLst>
          </a:prstGeom>
          <a:solidFill>
            <a:srgbClr val="FF6B9D">
              <a:alpha val="10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9664637" y="4381500"/>
            <a:ext cx="3492627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睡眠耐久</a:t>
            </a:r>
            <a:endParaRPr lang="en-US" sz="2700" dirty="0"/>
          </a:p>
        </p:txBody>
      </p:sp>
      <p:sp>
        <p:nvSpPr>
          <p:cNvPr id="33" name="Text 29"/>
          <p:cNvSpPr/>
          <p:nvPr/>
        </p:nvSpPr>
        <p:spPr>
          <a:xfrm>
            <a:off x="9664637" y="4943475"/>
            <a:ext cx="34926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睡眠時間 → 防御力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13373100" y="4229100"/>
            <a:ext cx="3695700" cy="1200150"/>
          </a:xfrm>
          <a:prstGeom prst="roundRect">
            <a:avLst>
              <a:gd name="adj" fmla="val 9524"/>
            </a:avLst>
          </a:prstGeom>
          <a:solidFill>
            <a:srgbClr val="FF6B9D">
              <a:alpha val="1000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13474637" y="4381500"/>
            <a:ext cx="3492627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サボり速度</a:t>
            </a:r>
            <a:endParaRPr lang="en-US" sz="2700" dirty="0"/>
          </a:p>
        </p:txBody>
      </p:sp>
      <p:sp>
        <p:nvSpPr>
          <p:cNvPr id="36" name="Text 32"/>
          <p:cNvSpPr/>
          <p:nvPr/>
        </p:nvSpPr>
        <p:spPr>
          <a:xfrm>
            <a:off x="13474637" y="4943475"/>
            <a:ext cx="34926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運動ゼロ日数 → 素早さ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9296400" y="5848350"/>
            <a:ext cx="8039100" cy="2131516"/>
          </a:xfrm>
          <a:prstGeom prst="roundRect">
            <a:avLst>
              <a:gd name="adj" fmla="val 7150"/>
            </a:avLst>
          </a:prstGeom>
          <a:solidFill>
            <a:srgbClr val="FFD166">
              <a:alpha val="10000"/>
            </a:srgbClr>
          </a:solidFill>
          <a:ln w="9525">
            <a:solidFill>
              <a:srgbClr val="FFD166">
                <a:alpha val="30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572625" y="6086475"/>
            <a:ext cx="7711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バトルパス収益モデル</a:t>
            </a:r>
            <a:endParaRPr lang="en-US" sz="1950" dirty="0"/>
          </a:p>
        </p:txBody>
      </p:sp>
      <p:sp>
        <p:nvSpPr>
          <p:cNvPr id="39" name="Text 35"/>
          <p:cNvSpPr/>
          <p:nvPr/>
        </p:nvSpPr>
        <p:spPr>
          <a:xfrm>
            <a:off x="9572625" y="6553200"/>
            <a:ext cx="771125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月額 </a:t>
            </a:r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¥680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または シーズンパス </a:t>
            </a:r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¥1,980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限定バトルスキン・エフェクト・称号が解放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課金額に関係なく実力（生活習慣）で勝てる</a:t>
            </a:r>
            <a:endParaRPr lang="en-US" sz="1950" dirty="0"/>
          </a:p>
        </p:txBody>
      </p:sp>
      <p:sp>
        <p:nvSpPr>
          <p:cNvPr id="40" name="Text 36"/>
          <p:cNvSpPr/>
          <p:nvPr/>
        </p:nvSpPr>
        <p:spPr>
          <a:xfrm>
            <a:off x="11787188" y="9534525"/>
            <a:ext cx="59109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ぶたそだて ｜ AWS Summit Japan 2026 8 / 12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06. ヘルスケア連携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038225"/>
            <a:ext cx="1687449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データが</a:t>
            </a:r>
            <a:pPr algn="l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遊び</a:t>
            </a:r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に変わる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2181225"/>
            <a:ext cx="5079950" cy="714375"/>
          </a:xfrm>
          <a:prstGeom prst="roundRect">
            <a:avLst>
              <a:gd name="adj" fmla="val 18667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876550"/>
            <a:ext cx="5079950" cy="1905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1" y="2352675"/>
            <a:ext cx="47751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1. データ収集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" y="3028950"/>
            <a:ext cx="5079950" cy="906661"/>
          </a:xfrm>
          <a:prstGeom prst="roundRect">
            <a:avLst>
              <a:gd name="adj" fmla="val 1050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162300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Apple Health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482280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歩数 / 心拍 / 睡眠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4068961"/>
            <a:ext cx="5079950" cy="906661"/>
          </a:xfrm>
          <a:prstGeom prst="roundRect">
            <a:avLst>
              <a:gd name="adj" fmla="val 1050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02311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Google Fit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4522291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アクティビティ全般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5108972"/>
            <a:ext cx="5079950" cy="906661"/>
          </a:xfrm>
          <a:prstGeom prst="roundRect">
            <a:avLst>
              <a:gd name="adj" fmla="val 1050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242322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Fitbit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5562302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睡眠品質 / 消費カロリー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6148983"/>
            <a:ext cx="5079950" cy="906661"/>
          </a:xfrm>
          <a:prstGeom prst="roundRect">
            <a:avLst>
              <a:gd name="adj" fmla="val 1050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282333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食事記録アプリ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6602313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あすけん / MyFitnessPal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7188994"/>
            <a:ext cx="5079950" cy="906661"/>
          </a:xfrm>
          <a:prstGeom prst="roundRect">
            <a:avLst>
              <a:gd name="adj" fmla="val 1050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7322344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スマート体重計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7642324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体重 / 体脂肪率 / 筋肉量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94350" y="2752725"/>
            <a:ext cx="6477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6603950" y="2181225"/>
            <a:ext cx="5079950" cy="714375"/>
          </a:xfrm>
          <a:prstGeom prst="roundRect">
            <a:avLst>
              <a:gd name="adj" fmla="val 18667"/>
            </a:avLst>
          </a:prstGeom>
          <a:solidFill>
            <a:srgbClr val="FFD166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603950" y="2876550"/>
            <a:ext cx="5079950" cy="1905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5" name="Text 23"/>
          <p:cNvSpPr/>
          <p:nvPr/>
        </p:nvSpPr>
        <p:spPr>
          <a:xfrm>
            <a:off x="6756351" y="2352675"/>
            <a:ext cx="47751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2. AI 変換エンジン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6603950" y="3028950"/>
            <a:ext cx="5079950" cy="586680"/>
          </a:xfrm>
          <a:prstGeom prst="roundRect">
            <a:avLst>
              <a:gd name="adj" fmla="val 1623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794450" y="3162300"/>
            <a:ext cx="485134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歩数 &lt; 3,000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豚 +2 太る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603950" y="3748980"/>
            <a:ext cx="5079950" cy="586680"/>
          </a:xfrm>
          <a:prstGeom prst="roundRect">
            <a:avLst>
              <a:gd name="adj" fmla="val 1623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794450" y="3882330"/>
            <a:ext cx="485134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歩数 &gt; 10,000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豚 -2 痩せる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603950" y="4469011"/>
            <a:ext cx="5079950" cy="586680"/>
          </a:xfrm>
          <a:prstGeom prst="roundRect">
            <a:avLst>
              <a:gd name="adj" fmla="val 1623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794450" y="4602361"/>
            <a:ext cx="485134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深夜スイーツ記録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豚 +3 + レア表情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603950" y="5189041"/>
            <a:ext cx="5079950" cy="586680"/>
          </a:xfrm>
          <a:prstGeom prst="roundRect">
            <a:avLst>
              <a:gd name="adj" fmla="val 1623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794450" y="5322391"/>
            <a:ext cx="485134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筋トレ実施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豚 -3（悲）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03950" y="5909072"/>
            <a:ext cx="5079950" cy="586680"/>
          </a:xfrm>
          <a:prstGeom prst="roundRect">
            <a:avLst>
              <a:gd name="adj" fmla="val 1623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794450" y="6042422"/>
            <a:ext cx="485134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睡眠 &lt; 5時間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豚 +1 + 目の下クマ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603950" y="6629102"/>
            <a:ext cx="5079950" cy="1790700"/>
          </a:xfrm>
          <a:prstGeom prst="roundRect">
            <a:avLst>
              <a:gd name="adj" fmla="val 7447"/>
            </a:avLst>
          </a:prstGeom>
          <a:solidFill>
            <a:srgbClr val="FFD166">
              <a:alpha val="12000"/>
            </a:srgbClr>
          </a:solidFill>
          <a:ln w="9525">
            <a:solidFill>
              <a:srgbClr val="FFD166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975" y="6810077"/>
            <a:ext cx="48202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Amazon Bedrock (Claude)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03975" y="7248227"/>
            <a:ext cx="4702109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食事写真から「ダメ度」を自動判定。深夜ラーメンなら豚+5、サラダなら豚-2など、文脈に応じた柔軟なスコアリング。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645801" y="2752725"/>
            <a:ext cx="6477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12255401" y="2181225"/>
            <a:ext cx="5079950" cy="714375"/>
          </a:xfrm>
          <a:prstGeom prst="roundRect">
            <a:avLst>
              <a:gd name="adj" fmla="val 18667"/>
            </a:avLst>
          </a:prstGeom>
          <a:solidFill>
            <a:srgbClr val="4ECDC4">
              <a:alpha val="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255401" y="2876550"/>
            <a:ext cx="5079950" cy="1905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2" name="Text 40"/>
          <p:cNvSpPr/>
          <p:nvPr/>
        </p:nvSpPr>
        <p:spPr>
          <a:xfrm>
            <a:off x="12407802" y="2352675"/>
            <a:ext cx="477514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 ゲーム出力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2255401" y="3028950"/>
            <a:ext cx="5079950" cy="906661"/>
          </a:xfrm>
          <a:prstGeom prst="roundRect">
            <a:avLst>
              <a:gd name="adj" fmla="val 1050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2445901" y="3162300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アバター体型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445901" y="3482280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リアルタイム進化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2255401" y="4068961"/>
            <a:ext cx="5079950" cy="906661"/>
          </a:xfrm>
          <a:prstGeom prst="roundRect">
            <a:avLst>
              <a:gd name="adj" fmla="val 1050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2445901" y="4202311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スコア加算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445901" y="4522291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日/週/月ランキング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2255401" y="5108972"/>
            <a:ext cx="5079950" cy="906661"/>
          </a:xfrm>
          <a:prstGeom prst="roundRect">
            <a:avLst>
              <a:gd name="adj" fmla="val 1050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2445901" y="5242322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実績解放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2445901" y="5562302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"三日三晩ラーメン" 等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2255401" y="6148983"/>
            <a:ext cx="5079950" cy="906661"/>
          </a:xfrm>
          <a:prstGeom prst="roundRect">
            <a:avLst>
              <a:gd name="adj" fmla="val 1050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2445901" y="6282333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コスチューム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2445901" y="6602313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ガチャ / 課金アイテム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2255401" y="7188994"/>
            <a:ext cx="5079950" cy="906661"/>
          </a:xfrm>
          <a:prstGeom prst="roundRect">
            <a:avLst>
              <a:gd name="adj" fmla="val 1050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2445901" y="7322344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SNSシェア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2445901" y="7642324"/>
            <a:ext cx="48399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自動生成画像付き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1787188" y="9534525"/>
            <a:ext cx="59109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ぶたそだて ｜ AWS Summit Japan 2026 9 / 12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08. 技術アーキテクチャ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038225"/>
            <a:ext cx="1687449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Flutter </a:t>
            </a:r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AWS フルマネージド構成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2181225"/>
            <a:ext cx="5079950" cy="695325"/>
          </a:xfrm>
          <a:prstGeom prst="roundRect">
            <a:avLst>
              <a:gd name="adj" fmla="val 1917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857500"/>
            <a:ext cx="5079950" cy="1905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1" y="2352675"/>
            <a:ext cx="47751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クライアント（Flutter）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2990850"/>
            <a:ext cx="5079950" cy="923925"/>
          </a:xfrm>
          <a:prstGeom prst="roundRect">
            <a:avLst>
              <a:gd name="adj" fmla="val 10309"/>
            </a:avLst>
          </a:prstGeom>
          <a:solidFill>
            <a:srgbClr val="FF9900">
              <a:alpha val="10000"/>
            </a:srgbClr>
          </a:solidFill>
          <a:ln w="9525">
            <a:solidFill>
              <a:srgbClr val="FF6B9D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3133725"/>
            <a:ext cx="4820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Flutter (Dart)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2525" y="3438525"/>
            <a:ext cx="48202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iOS / Android / Web 単一コードベース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4029075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162425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HealthKit (iOS)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4467225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health package でネイティブ連携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5048250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181600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Health Connect (Android)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5486400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Google 公式 SDK で連携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6067425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6200775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Flutter Web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6505575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WebGLレンダリング対応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7086600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7219950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Firebase Messaging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7524750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プッシュ通知・Deep Link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94350" y="2714625"/>
            <a:ext cx="6477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6603950" y="2181225"/>
            <a:ext cx="5079950" cy="695325"/>
          </a:xfrm>
          <a:prstGeom prst="roundRect">
            <a:avLst>
              <a:gd name="adj" fmla="val 19178"/>
            </a:avLst>
          </a:prstGeom>
          <a:solidFill>
            <a:srgbClr val="FF9900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603950" y="2857500"/>
            <a:ext cx="5079950" cy="1905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5" name="Text 23"/>
          <p:cNvSpPr/>
          <p:nvPr/>
        </p:nvSpPr>
        <p:spPr>
          <a:xfrm>
            <a:off x="6756351" y="2352675"/>
            <a:ext cx="47751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AWS バックエンド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03950" y="2990850"/>
            <a:ext cx="5079950" cy="838200"/>
          </a:xfrm>
          <a:prstGeom prst="roundRect">
            <a:avLst>
              <a:gd name="adj" fmla="val 1136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794450" y="3124200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Gateway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94450" y="3429000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REST + WebSocket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603950" y="3943350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794450" y="4076700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AWS Amplify / Cognito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794450" y="4381500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認証・ホスティング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603950" y="4962525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794450" y="5095875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Lambda + Step Functions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94450" y="5400675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ゲームロジック / 日次スコア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603950" y="5981700"/>
            <a:ext cx="5079950" cy="923925"/>
          </a:xfrm>
          <a:prstGeom prst="roundRect">
            <a:avLst>
              <a:gd name="adj" fmla="val 10309"/>
            </a:avLst>
          </a:prstGeom>
          <a:solidFill>
            <a:srgbClr val="FF9900">
              <a:alpha val="10000"/>
            </a:srgbClr>
          </a:solidFill>
          <a:ln w="9525">
            <a:solidFill>
              <a:srgbClr val="FF9900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03975" y="6124575"/>
            <a:ext cx="4820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Bedrock (Claude)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03975" y="6429375"/>
            <a:ext cx="48202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食事画像 ダメ度判定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603950" y="7019925"/>
            <a:ext cx="5079950" cy="923925"/>
          </a:xfrm>
          <a:prstGeom prst="roundRect">
            <a:avLst>
              <a:gd name="adj" fmla="val 10309"/>
            </a:avLst>
          </a:prstGeom>
          <a:solidFill>
            <a:srgbClr val="FF9900">
              <a:alpha val="10000"/>
            </a:srgbClr>
          </a:solidFill>
          <a:ln w="9525">
            <a:solidFill>
              <a:srgbClr val="FF9900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03975" y="7162800"/>
            <a:ext cx="4820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SageMaker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03975" y="7467600"/>
            <a:ext cx="482029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AIコーチ パーソナライズ / 離脱予測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603950" y="8058150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794450" y="8191500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DynamoDB / S3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794450" y="8496300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ユーザー・スコア / 画像・ログ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645801" y="2714625"/>
            <a:ext cx="6477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▶</a:t>
            </a:r>
            <a:endParaRPr lang="en-US" sz="3000" dirty="0"/>
          </a:p>
        </p:txBody>
      </p:sp>
      <p:sp>
        <p:nvSpPr>
          <p:cNvPr id="45" name="Shape 43"/>
          <p:cNvSpPr/>
          <p:nvPr/>
        </p:nvSpPr>
        <p:spPr>
          <a:xfrm>
            <a:off x="12255401" y="2181225"/>
            <a:ext cx="5079950" cy="695325"/>
          </a:xfrm>
          <a:prstGeom prst="roundRect">
            <a:avLst>
              <a:gd name="adj" fmla="val 19178"/>
            </a:avLst>
          </a:prstGeom>
          <a:solidFill>
            <a:srgbClr val="4ECDC4">
              <a:alpha val="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2255401" y="2857500"/>
            <a:ext cx="5079950" cy="1905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7" name="Text 45"/>
          <p:cNvSpPr/>
          <p:nvPr/>
        </p:nvSpPr>
        <p:spPr>
          <a:xfrm>
            <a:off x="12407802" y="2352675"/>
            <a:ext cx="47751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外部サービス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255401" y="2990850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2445901" y="3124200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HealthKit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2445901" y="3429000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Apple ネイティブ連携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2255401" y="4010025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2445901" y="4143375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Health Connect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2445901" y="4448175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Android ネイティブ連携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2255401" y="5029200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2445901" y="5162550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Stripe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445901" y="5467350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決済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2255401" y="6048375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2445901" y="6181725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Twitter/X API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2445901" y="6486525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SNS 共有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2255401" y="7067550"/>
            <a:ext cx="5079950" cy="904875"/>
          </a:xfrm>
          <a:prstGeom prst="roundRect">
            <a:avLst>
              <a:gd name="adj" fmla="val 1052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2445901" y="7200900"/>
            <a:ext cx="4839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WebRTC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2445901" y="7505700"/>
            <a:ext cx="483991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リアルタイムバトル通信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1637169" y="9534525"/>
            <a:ext cx="60654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ぶたそだて ｜ AWS Summit Japan 2026 10 / 12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09. ビジネスモデル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038225"/>
            <a:ext cx="1687449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5つの</a:t>
            </a:r>
            <a:pPr algn="l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収益源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2105025"/>
            <a:ext cx="5334000" cy="2097286"/>
          </a:xfrm>
          <a:prstGeom prst="roundRect">
            <a:avLst>
              <a:gd name="adj" fmla="val 7267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105025"/>
            <a:ext cx="5334000" cy="3810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2371725"/>
            <a:ext cx="502310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181100" y="2905125"/>
            <a:ext cx="50231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デブエットコーチ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81100" y="3333750"/>
            <a:ext cx="502310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AIパーソナルトレーナー「もっと太れ！」毎月 ¥980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77000" y="2105025"/>
            <a:ext cx="5334000" cy="2097286"/>
          </a:xfrm>
          <a:prstGeom prst="roundRect">
            <a:avLst>
              <a:gd name="adj" fmla="val 7267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77000" y="2105025"/>
            <a:ext cx="5334000" cy="381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6705600" y="2371725"/>
            <a:ext cx="502310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705600" y="2905125"/>
            <a:ext cx="50231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ぶたバトル パス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705600" y="3333750"/>
            <a:ext cx="502310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毎月 ¥680 / シーズンパス ¥1,980 限定スキン・エフェクト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001500" y="2105025"/>
            <a:ext cx="5334000" cy="2097286"/>
          </a:xfrm>
          <a:prstGeom prst="roundRect">
            <a:avLst>
              <a:gd name="adj" fmla="val 7267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0" y="2105025"/>
            <a:ext cx="5334000" cy="381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12230100" y="2371725"/>
            <a:ext cx="502310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4ECDC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2230100" y="2905125"/>
            <a:ext cx="50231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プレミアム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230100" y="3333750"/>
            <a:ext cx="502310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食事写真自動判定・詳細分析・豚AI 毎月 ¥480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4392811"/>
            <a:ext cx="8096250" cy="1777305"/>
          </a:xfrm>
          <a:prstGeom prst="roundRect">
            <a:avLst>
              <a:gd name="adj" fmla="val 857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2500" y="4392811"/>
            <a:ext cx="8096250" cy="38100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4659511"/>
            <a:ext cx="786822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A8DAD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15%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181100" y="5192911"/>
            <a:ext cx="786822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豚種・コスチューム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81100" y="5621536"/>
            <a:ext cx="786822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新豚種アンロック・衣装・アクセサリー 単品 ¥120〜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239250" y="4392811"/>
            <a:ext cx="8096250" cy="1777305"/>
          </a:xfrm>
          <a:prstGeom prst="roundRect">
            <a:avLst>
              <a:gd name="adj" fmla="val 8575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239250" y="4392811"/>
            <a:ext cx="8096250" cy="38100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6" name="Text 24"/>
          <p:cNvSpPr/>
          <p:nvPr/>
        </p:nvSpPr>
        <p:spPr>
          <a:xfrm>
            <a:off x="9467850" y="4659511"/>
            <a:ext cx="786822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C77D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10%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9467850" y="5192911"/>
            <a:ext cx="786822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コラボ / B2B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467850" y="5621536"/>
            <a:ext cx="786822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食品企業コラボ広告・保険会社・健保組合向け法人プラン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2500" y="6360616"/>
            <a:ext cx="3952875" cy="2133600"/>
          </a:xfrm>
          <a:prstGeom prst="roundRect">
            <a:avLst>
              <a:gd name="adj" fmla="val 7143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28665" y="6589216"/>
            <a:ext cx="360054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¥320</a:t>
            </a:r>
            <a:endParaRPr lang="en-US" sz="3900" dirty="0"/>
          </a:p>
        </p:txBody>
      </p:sp>
      <p:sp>
        <p:nvSpPr>
          <p:cNvPr id="31" name="Text 29"/>
          <p:cNvSpPr/>
          <p:nvPr/>
        </p:nvSpPr>
        <p:spPr>
          <a:xfrm>
            <a:off x="1128665" y="7341691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CAC 顧客獲得コスト</a:t>
            </a:r>
            <a:endParaRPr lang="en-US" sz="1800" dirty="0"/>
          </a:p>
        </p:txBody>
      </p:sp>
      <p:sp>
        <p:nvSpPr>
          <p:cNvPr id="32" name="Text 30">
            <a:hlinkClick r:id="rId1" tooltip=""/>
          </p:cNvPr>
          <p:cNvSpPr/>
          <p:nvPr/>
        </p:nvSpPr>
        <p:spPr>
          <a:xfrm>
            <a:off x="1128665" y="7732216"/>
            <a:ext cx="36005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u="sng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applovin.com/blog/mobile-app-benchmark-report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095875" y="6360616"/>
            <a:ext cx="3952875" cy="2133600"/>
          </a:xfrm>
          <a:prstGeom prst="roundRect">
            <a:avLst>
              <a:gd name="adj" fmla="val 7143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272040" y="6589216"/>
            <a:ext cx="360054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¥4,540</a:t>
            </a:r>
            <a:endParaRPr lang="en-US" sz="3900" dirty="0"/>
          </a:p>
        </p:txBody>
      </p:sp>
      <p:sp>
        <p:nvSpPr>
          <p:cNvPr id="35" name="Text 33"/>
          <p:cNvSpPr/>
          <p:nvPr/>
        </p:nvSpPr>
        <p:spPr>
          <a:xfrm>
            <a:off x="5272040" y="7341691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LTV 顧客生涯価値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72040" y="7732216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ARPPU ¥454/月 × 10ヵ月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239250" y="6360616"/>
            <a:ext cx="3952875" cy="2133600"/>
          </a:xfrm>
          <a:prstGeom prst="roundRect">
            <a:avLst>
              <a:gd name="adj" fmla="val 7143"/>
            </a:avLst>
          </a:prstGeom>
          <a:solidFill>
            <a:srgbClr val="FFD166">
              <a:alpha val="10000"/>
            </a:srgbClr>
          </a:solidFill>
          <a:ln w="9525">
            <a:solidFill>
              <a:srgbClr val="FFD166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25226" y="6598741"/>
            <a:ext cx="3580924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14.2</a:t>
            </a:r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x</a:t>
            </a:r>
            <a:endParaRPr lang="en-US" sz="3900" dirty="0"/>
          </a:p>
        </p:txBody>
      </p:sp>
      <p:sp>
        <p:nvSpPr>
          <p:cNvPr id="39" name="Text 37"/>
          <p:cNvSpPr/>
          <p:nvPr/>
        </p:nvSpPr>
        <p:spPr>
          <a:xfrm>
            <a:off x="9425226" y="7351216"/>
            <a:ext cx="358092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LTV/CAC 投資効率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3382625" y="6360616"/>
            <a:ext cx="3952875" cy="2133600"/>
          </a:xfrm>
          <a:prstGeom prst="roundRect">
            <a:avLst>
              <a:gd name="adj" fmla="val 7143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3558790" y="6589216"/>
            <a:ext cx="360054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</a:t>
            </a:r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ヵ月</a:t>
            </a:r>
            <a:endParaRPr lang="en-US" sz="3900" dirty="0"/>
          </a:p>
        </p:txBody>
      </p:sp>
      <p:sp>
        <p:nvSpPr>
          <p:cNvPr id="42" name="Text 40"/>
          <p:cNvSpPr/>
          <p:nvPr/>
        </p:nvSpPr>
        <p:spPr>
          <a:xfrm>
            <a:off x="13558790" y="7341691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黒字化想定時期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558790" y="7732216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SaaS/アプリ業界標準値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654135" y="9534525"/>
            <a:ext cx="604802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ぶたそだて ｜ AWS Summit Japan 2026 11 / 12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34" kern="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10. ロードマップ &amp; VISION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038225"/>
            <a:ext cx="1687449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MVP から</a:t>
            </a:r>
            <a:pPr algn="l" indent="0" marL="0">
              <a:buNone/>
            </a:pPr>
            <a:r>
              <a:rPr lang="en-US" sz="39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グローバル展開</a:t>
            </a:r>
            <a:pPr algn="l" indent="0" marL="0">
              <a:buNone/>
            </a:pPr>
            <a:r>
              <a:rPr lang="en-US" sz="39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まで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2066925"/>
            <a:ext cx="3952875" cy="3651647"/>
          </a:xfrm>
          <a:prstGeom prst="roundRect">
            <a:avLst>
              <a:gd name="adj" fmla="val 4173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066925"/>
            <a:ext cx="3952875" cy="13525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390900"/>
            <a:ext cx="3952875" cy="28575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2257425"/>
            <a:ext cx="36005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Phase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1100" y="2562225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Flutter ラウンチ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1100" y="2933700"/>
            <a:ext cx="36005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2026 Q2–Q3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1100" y="4082355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3686175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Flutter iOS / Android リリース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1100" y="4564261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4168080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HealthKit / Health Connect 連携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1100" y="5046166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" y="4649986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アバター4段階進化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1100" y="5131891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初期 5,000 DL 目標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95875" y="2066925"/>
            <a:ext cx="3952875" cy="3651647"/>
          </a:xfrm>
          <a:prstGeom prst="roundRect">
            <a:avLst>
              <a:gd name="adj" fmla="val 4173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095875" y="2066925"/>
            <a:ext cx="3952875" cy="13525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095875" y="3390900"/>
            <a:ext cx="3952875" cy="28575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5324475" y="2257425"/>
            <a:ext cx="36005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D16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Phase 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24475" y="2562225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機能拡張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24475" y="2933700"/>
            <a:ext cx="36005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2026 Q4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24475" y="4082355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24475" y="3686175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Google Fit 連携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324475" y="4564261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324475" y="4168080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ぶたバトル ベータ版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324475" y="5046166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324475" y="4649986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豚種・コスチューム販売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24475" y="5131891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SNS 連携機能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239250" y="2066925"/>
            <a:ext cx="3952875" cy="3718322"/>
          </a:xfrm>
          <a:prstGeom prst="roundRect">
            <a:avLst>
              <a:gd name="adj" fmla="val 4099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239250" y="2066925"/>
            <a:ext cx="3952875" cy="14192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239250" y="3457575"/>
            <a:ext cx="3952875" cy="28575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9467850" y="2257425"/>
            <a:ext cx="36005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4ECDC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Phase 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467850" y="2562225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スケール &amp; 収益化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467850" y="2933700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2027 上半期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467850" y="4149030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467850" y="3752850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ぶたバトル 正式リリース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467850" y="4630936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467850" y="4234755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デブエットコーチ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467850" y="5112841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467850" y="4716661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プレミアムプラン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467850" y="5198566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10万 DAU 突破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3382625" y="2066925"/>
            <a:ext cx="3952875" cy="3718322"/>
          </a:xfrm>
          <a:prstGeom prst="roundRect">
            <a:avLst>
              <a:gd name="adj" fmla="val 4099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3382625" y="2066925"/>
            <a:ext cx="3952875" cy="14192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3382625" y="3457575"/>
            <a:ext cx="3952875" cy="28575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46" name="Text 44"/>
          <p:cNvSpPr/>
          <p:nvPr/>
        </p:nvSpPr>
        <p:spPr>
          <a:xfrm>
            <a:off x="13611225" y="2257425"/>
            <a:ext cx="36005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A8DAD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Phase 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3611225" y="2562225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グローバル展開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3611225" y="2933700"/>
            <a:ext cx="36005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2027 下半期〜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3611225" y="4149030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3611225" y="3752850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多言語対応（英/中/韓）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3611225" y="4630936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3611225" y="4234755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食品企業コラボ広告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3611225" y="5112841"/>
            <a:ext cx="3495675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3611225" y="4716661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B2B 保険会社提携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3611225" y="5198566"/>
            <a:ext cx="36005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アジア No.1 目標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952500" y="8305800"/>
            <a:ext cx="16383000" cy="1409700"/>
          </a:xfrm>
          <a:prstGeom prst="roundRect">
            <a:avLst>
              <a:gd name="adj" fmla="val 10811"/>
            </a:avLst>
          </a:prstGeom>
          <a:solidFill>
            <a:srgbClr val="FF6B9D">
              <a:alpha val="15000"/>
            </a:srgbClr>
          </a:solidFill>
          <a:ln w="9525">
            <a:solidFill>
              <a:srgbClr val="FF6B9D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08996" y="8524875"/>
            <a:ext cx="1607000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6B9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"ダメになるほど、愛される。" </a:t>
            </a:r>
            <a:pPr algn="ctr" indent="0" marL="0">
              <a:buNone/>
            </a:pPr>
            <a:r>
              <a:rPr lang="en-US" sz="2700" b="1" dirty="0">
                <a:solidFill>
                  <a:srgbClr val="FFFA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健康管理を、人生で一番楽しい時間に。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1108996" y="9115425"/>
            <a:ext cx="1607000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B8B5C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ご清聴ありがとうございました ｜ Team ぶたそだて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11637169" y="9534525"/>
            <a:ext cx="60654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FFFFF">
                    <a:alpha val="3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ぶたそだて ｜ AWS Summit Japan 2026 12 / 12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0" y="10229850"/>
            <a:ext cx="18288000" cy="57150"/>
          </a:xfrm>
          <a:prstGeom prst="rect">
            <a:avLst/>
          </a:prstGeom>
          <a:solidFill>
            <a:srgbClr val="FF6B9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2026-04-23T04:39:37Z</dcterms:created>
  <dcterms:modified xsi:type="dcterms:W3CDTF">2026-04-23T04:39:37Z</dcterms:modified>
</cp:coreProperties>
</file>