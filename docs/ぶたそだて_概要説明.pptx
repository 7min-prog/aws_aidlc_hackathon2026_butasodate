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10287000" cx="18288000"/>
  <p:notesSz cx="10287000" cy="18288000"/>
  <p:embeddedFontLst>
    <p:embeddedFont>
      <p:font typeface="Outfit"/>
      <p:regular r:id="rId14"/>
      <p:bold r:id="rId15"/>
    </p:embeddedFont>
    <p:embeddedFont>
      <p:font typeface="JetBrains Mono"/>
      <p:regular r:id="rId16"/>
      <p:bold r:id="rId17"/>
      <p:italic r:id="rId18"/>
      <p:boldItalic r:id="rId19"/>
    </p:embeddedFont>
    <p:embeddedFont>
      <p:font typeface="Noto Sans JP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gz5KxWsCglPq9aAevBYWReYvZe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otoSansJP-regular.fntdata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NotoSansJP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Outfit-bold.fntdata"/><Relationship Id="rId14" Type="http://schemas.openxmlformats.org/officeDocument/2006/relationships/font" Target="fonts/Outfit-regular.fntdata"/><Relationship Id="rId17" Type="http://schemas.openxmlformats.org/officeDocument/2006/relationships/font" Target="fonts/JetBrainsMono-bold.fntdata"/><Relationship Id="rId16" Type="http://schemas.openxmlformats.org/officeDocument/2006/relationships/font" Target="fonts/JetBrainsMono-regular.fntdata"/><Relationship Id="rId5" Type="http://schemas.openxmlformats.org/officeDocument/2006/relationships/slide" Target="slides/slide1.xml"/><Relationship Id="rId19" Type="http://schemas.openxmlformats.org/officeDocument/2006/relationships/font" Target="fonts/JetBrainsMono-boldItalic.fntdata"/><Relationship Id="rId6" Type="http://schemas.openxmlformats.org/officeDocument/2006/relationships/slide" Target="slides/slide2.xml"/><Relationship Id="rId18" Type="http://schemas.openxmlformats.org/officeDocument/2006/relationships/font" Target="fonts/JetBrainsMono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2A106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914400" y="1910655"/>
            <a:ext cx="8468977" cy="704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AWS SUMMIT JAPAN 2026 ／ AI-DLC HACKATHON ／ 書類審査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914400" y="2882200"/>
            <a:ext cx="11001300" cy="38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6500"/>
              <a:buFont typeface="Noto Sans JP"/>
              <a:buNone/>
            </a:pPr>
            <a:r>
              <a:rPr b="1" i="0" lang="en-US" sz="16500" u="none" cap="none" strike="noStrike">
                <a:solidFill>
                  <a:srgbClr val="FF6B9D"/>
                </a:solidFill>
                <a:latin typeface="Noto Sans JP"/>
                <a:ea typeface="Noto Sans JP"/>
                <a:cs typeface="Noto Sans JP"/>
                <a:sym typeface="Noto Sans JP"/>
              </a:rPr>
              <a:t>ぶた</a:t>
            </a:r>
            <a:r>
              <a:rPr b="1" i="0" lang="en-US" sz="165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そだて</a:t>
            </a:r>
            <a:endParaRPr b="0" i="0" sz="16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990724" y="5286625"/>
            <a:ext cx="10657800" cy="9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2700"/>
              <a:buFont typeface="Noto Sans JP"/>
              <a:buNone/>
            </a:pPr>
            <a:r>
              <a:rPr b="0" i="0" lang="en-US" sz="27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食べて、寝て、サボって、</a:t>
            </a:r>
            <a:r>
              <a:rPr b="1" i="0" lang="en-US" sz="2700" u="none" cap="none" strike="noStrike">
                <a:solidFill>
                  <a:srgbClr val="FFD166"/>
                </a:solidFill>
                <a:latin typeface="Noto Sans JP"/>
                <a:ea typeface="Noto Sans JP"/>
                <a:cs typeface="Noto Sans JP"/>
                <a:sym typeface="Noto Sans JP"/>
              </a:rPr>
              <a:t>育てる。</a:t>
            </a:r>
            <a:endParaRPr b="1" i="0" sz="2700" u="none" cap="none" strike="noStrike">
              <a:solidFill>
                <a:srgbClr val="FFD166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2700"/>
              <a:buFont typeface="Noto Sans JP"/>
              <a:buNone/>
            </a:pPr>
            <a:r>
              <a:rPr lang="en-US" sz="2700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全てのユーザーを</a:t>
            </a:r>
            <a:r>
              <a:rPr b="1" lang="en-US" sz="2700">
                <a:solidFill>
                  <a:srgbClr val="FFD166"/>
                </a:solidFill>
                <a:latin typeface="Noto Sans JP"/>
                <a:ea typeface="Noto Sans JP"/>
                <a:cs typeface="Noto Sans JP"/>
                <a:sym typeface="Noto Sans JP"/>
              </a:rPr>
              <a:t>ダメ人間</a:t>
            </a:r>
            <a:r>
              <a:rPr lang="en-US" sz="2700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にするための、</a:t>
            </a:r>
            <a:endParaRPr sz="2700">
              <a:solidFill>
                <a:srgbClr val="FFFAFF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2700"/>
              <a:buFont typeface="Noto Sans JP"/>
              <a:buNone/>
            </a:pPr>
            <a:r>
              <a:rPr lang="en-US" sz="2700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”怠惰” でぶたを育てるゲーム。</a:t>
            </a:r>
            <a:endParaRPr i="0" sz="2700" u="none" cap="none" strike="noStrike">
              <a:solidFill>
                <a:srgbClr val="FFFA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990729" y="7658175"/>
            <a:ext cx="29949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JetBrains Mono"/>
              <a:buNone/>
            </a:pPr>
            <a:r>
              <a:rPr b="1" i="0" lang="en-US" sz="2600" u="none" cap="none" strike="noStrike">
                <a:solidFill>
                  <a:srgbClr val="FFFA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TEAM </a:t>
            </a:r>
            <a:r>
              <a:rPr b="1" i="0" lang="en-US" sz="260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ぶたさんち</a:t>
            </a:r>
            <a:endParaRPr b="1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" name="Google Shape;21;p1"/>
          <p:cNvPicPr preferRelativeResize="0"/>
          <p:nvPr/>
        </p:nvPicPr>
        <p:blipFill rotWithShape="1">
          <a:blip r:embed="rId3">
            <a:alphaModFix/>
          </a:blip>
          <a:srcRect b="0" l="0" r="2884" t="0"/>
          <a:stretch/>
        </p:blipFill>
        <p:spPr>
          <a:xfrm>
            <a:off x="11915700" y="2295525"/>
            <a:ext cx="5688600" cy="5696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B1E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/>
          <p:nvPr/>
        </p:nvSpPr>
        <p:spPr>
          <a:xfrm>
            <a:off x="914400" y="381000"/>
            <a:ext cx="439261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なぜ作るか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914400" y="914400"/>
            <a:ext cx="16953000" cy="11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5400"/>
              <a:buFont typeface="Noto Sans JP"/>
              <a:buNone/>
            </a:pPr>
            <a:r>
              <a:rPr b="1" i="0" lang="en-US" sz="54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「正しさ」</a:t>
            </a:r>
            <a:r>
              <a:rPr b="1" lang="en-US" sz="5400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に疲れた人間を</a:t>
            </a:r>
            <a:r>
              <a:rPr b="1" i="0" lang="en-US" sz="5400" u="none" cap="none" strike="noStrike">
                <a:solidFill>
                  <a:srgbClr val="FF6B9D"/>
                </a:solidFill>
                <a:latin typeface="Noto Sans JP"/>
                <a:ea typeface="Noto Sans JP"/>
                <a:cs typeface="Noto Sans JP"/>
                <a:sym typeface="Noto Sans JP"/>
              </a:rPr>
              <a:t>「ダメさ」</a:t>
            </a:r>
            <a:r>
              <a:rPr b="1" i="0" lang="en-US" sz="54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で</a:t>
            </a:r>
            <a:r>
              <a:rPr b="1" lang="en-US" sz="5400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癒す</a:t>
            </a:r>
            <a:r>
              <a:rPr b="1" i="0" lang="en-US" sz="54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。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914400" y="2907506"/>
            <a:ext cx="7620000" cy="5388769"/>
          </a:xfrm>
          <a:prstGeom prst="roundRect">
            <a:avLst>
              <a:gd fmla="val 3182" name="adj"/>
            </a:avLst>
          </a:prstGeom>
          <a:solidFill>
            <a:srgbClr val="1A1640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1304925" y="3298031"/>
            <a:ext cx="704411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HEALTHCARE AS USUAL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304925" y="3726656"/>
            <a:ext cx="7044119" cy="4905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2850"/>
              <a:buFont typeface="Noto Sans JP"/>
              <a:buNone/>
            </a:pPr>
            <a:r>
              <a:rPr b="1" i="0" lang="en-US" sz="285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従来 ─ 正しさで縛るアプリ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1144905" y="4445794"/>
            <a:ext cx="7075170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Noto Sans JP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“運動した”“野菜を食べた” を記録 → 続けないと罪悪感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Noto Sans JP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数字管理が苦痛になり、3ヶ月以内に大半が離脱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Noto Sans JP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記録するほど「自分はダメ」と感じてアンインストール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8900398" y="4896965"/>
            <a:ext cx="1019100" cy="14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4800"/>
              <a:buFont typeface="JetBrains Mono"/>
              <a:buNone/>
            </a:pPr>
            <a:r>
              <a:rPr b="1" i="0" lang="en-US" sz="6800" u="none" cap="none" strike="noStrike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▶</a:t>
            </a:r>
            <a:endParaRPr b="0" i="0" sz="6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9753600" y="2907506"/>
            <a:ext cx="7620000" cy="5388900"/>
          </a:xfrm>
          <a:prstGeom prst="roundRect">
            <a:avLst>
              <a:gd fmla="val 3182" name="adj"/>
            </a:avLst>
          </a:prstGeom>
          <a:solidFill>
            <a:srgbClr val="2A1060"/>
          </a:solidFill>
          <a:ln cap="flat" cmpd="sng" w="9525">
            <a:solidFill>
              <a:srgbClr val="FF6B9D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10144125" y="3298031"/>
            <a:ext cx="704411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REVERSED HEALTHCARE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10144125" y="3726656"/>
            <a:ext cx="7044119" cy="4905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2850"/>
              <a:buFont typeface="Noto Sans JP"/>
              <a:buNone/>
            </a:pPr>
            <a:r>
              <a:rPr b="1" i="0" lang="en-US" sz="285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ぶたそだて ─ </a:t>
            </a:r>
            <a:r>
              <a:rPr b="1" i="0" lang="en-US" sz="2850" u="none" cap="none" strike="noStrike">
                <a:solidFill>
                  <a:srgbClr val="FF6B9D"/>
                </a:solidFill>
                <a:latin typeface="Noto Sans JP"/>
                <a:ea typeface="Noto Sans JP"/>
                <a:cs typeface="Noto Sans JP"/>
                <a:sym typeface="Noto Sans JP"/>
              </a:rPr>
              <a:t>ダメさを愛させる</a:t>
            </a:r>
            <a:r>
              <a:rPr b="1" i="0" lang="en-US" sz="285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アプリ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9984100" y="4445804"/>
            <a:ext cx="7075200" cy="24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Noto Sans JP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“</a:t>
            </a:r>
            <a:r>
              <a:rPr lang="en-US" sz="1800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ベッドでYoutube</a:t>
            </a:r>
            <a:r>
              <a:rPr b="0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” “</a:t>
            </a:r>
            <a:r>
              <a:rPr b="0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運動サボり</a:t>
            </a:r>
            <a:r>
              <a:rPr b="0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” を</a:t>
            </a:r>
            <a:r>
              <a:rPr lang="en-US" sz="1800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自動</a:t>
            </a:r>
            <a:r>
              <a:rPr b="0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記録 → 豚が喜び成長する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Noto Sans JP"/>
              <a:buNone/>
            </a:pPr>
            <a:r>
              <a:rPr lang="en-US" sz="1800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怠惰な生活を送る</a:t>
            </a:r>
            <a:r>
              <a:rPr b="0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ほどアバターが進化、強くなる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Noto Sans JP"/>
              <a:buNone/>
            </a:pPr>
            <a:r>
              <a:rPr lang="en-US" sz="1800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怠惰な自分を</a:t>
            </a:r>
            <a:r>
              <a:rPr b="0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記録するほど分身が育つ</a:t>
            </a:r>
            <a:endParaRPr sz="1800">
              <a:solidFill>
                <a:srgbClr val="FFFAFF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Noto Sans JP"/>
              <a:buNone/>
            </a:pPr>
            <a:r>
              <a:rPr b="1" lang="en-US" sz="1800">
                <a:solidFill>
                  <a:srgbClr val="FFD166"/>
                </a:solidFill>
                <a:latin typeface="Noto Sans JP"/>
                <a:ea typeface="Noto Sans JP"/>
                <a:cs typeface="Noto Sans JP"/>
                <a:sym typeface="Noto Sans JP"/>
              </a:rPr>
              <a:t>ユーザーの</a:t>
            </a:r>
            <a:r>
              <a:rPr b="1" i="0" lang="en-US" sz="1800" u="none" cap="none" strike="noStrike">
                <a:solidFill>
                  <a:srgbClr val="FFD166"/>
                </a:solidFill>
                <a:latin typeface="Noto Sans JP"/>
                <a:ea typeface="Noto Sans JP"/>
                <a:cs typeface="Noto Sans JP"/>
                <a:sym typeface="Noto Sans JP"/>
              </a:rPr>
              <a:t>罪悪感が</a:t>
            </a:r>
            <a:r>
              <a:rPr b="1" lang="en-US" sz="1800">
                <a:solidFill>
                  <a:srgbClr val="FFD166"/>
                </a:solidFill>
                <a:latin typeface="Noto Sans JP"/>
                <a:ea typeface="Noto Sans JP"/>
                <a:cs typeface="Noto Sans JP"/>
                <a:sym typeface="Noto Sans JP"/>
              </a:rPr>
              <a:t>ぶたの餌となり、愛玩的な幸福感に昇華される</a:t>
            </a:r>
            <a:endParaRPr b="1" i="0" sz="1800" u="none" cap="none" strike="noStrike">
              <a:solidFill>
                <a:srgbClr val="FFD1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914400" y="8562975"/>
            <a:ext cx="16459200" cy="809625"/>
          </a:xfrm>
          <a:prstGeom prst="rect">
            <a:avLst/>
          </a:prstGeom>
          <a:solidFill>
            <a:srgbClr val="FFD166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914400" y="8562975"/>
            <a:ext cx="38100" cy="809625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1257300" y="8772525"/>
            <a:ext cx="16305276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FFD1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INTENT </a:t>
            </a:r>
            <a:r>
              <a:rPr b="0" i="0" lang="en-US" sz="195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不健康な行動をポジティブに記録できる、逆転発想の “ぶた” 育成ヘルスケアゲーム。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1304925" y="1871698"/>
            <a:ext cx="163053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800"/>
              <a:buFont typeface="JetBrains Mono"/>
              <a:buNone/>
            </a:pPr>
            <a:r>
              <a:rPr b="1" lang="en-US" sz="2000">
                <a:solidFill>
                  <a:srgbClr val="FFFA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“ダメな自分” を客観視し、キャラとして可愛がる体験。セルフコンパッションを育み、社会に疲れたユーザーを優しく包み込む。</a:t>
            </a:r>
            <a:endParaRPr b="1" sz="2000">
              <a:solidFill>
                <a:srgbClr val="FFFAFF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B1E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"/>
          <p:cNvSpPr/>
          <p:nvPr/>
        </p:nvSpPr>
        <p:spPr>
          <a:xfrm>
            <a:off x="914400" y="381000"/>
            <a:ext cx="450482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創造性 と テーマ適合性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914400" y="914400"/>
            <a:ext cx="16952976" cy="80605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5400"/>
              <a:buFont typeface="Noto Sans JP"/>
              <a:buNone/>
            </a:pPr>
            <a:r>
              <a:rPr b="1" i="0" lang="en-US" sz="54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「人をダメにする」を体現する </a:t>
            </a:r>
            <a:r>
              <a:rPr b="1" i="0" lang="en-US" sz="5400" u="none" cap="none" strike="noStrike">
                <a:solidFill>
                  <a:srgbClr val="FF6B9D"/>
                </a:solidFill>
                <a:latin typeface="Noto Sans JP"/>
                <a:ea typeface="Noto Sans JP"/>
                <a:cs typeface="Noto Sans JP"/>
                <a:sym typeface="Noto Sans JP"/>
              </a:rPr>
              <a:t>6つの仕掛け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914400" y="2177653"/>
            <a:ext cx="5346650" cy="3492698"/>
          </a:xfrm>
          <a:prstGeom prst="roundRect">
            <a:avLst>
              <a:gd fmla="val 4363" name="adj"/>
            </a:avLst>
          </a:prstGeom>
          <a:solidFill>
            <a:srgbClr val="1A1640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1209675" y="2453878"/>
            <a:ext cx="4898783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2400"/>
              <a:buFont typeface="JetBrains Mono"/>
              <a:buNone/>
            </a:pPr>
            <a:r>
              <a:rPr b="1" i="0" lang="en-US" sz="2400" u="none" cap="none" strike="noStrike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1209675" y="2996803"/>
            <a:ext cx="4898783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2100"/>
              <a:buFont typeface="Noto Sans JP"/>
              <a:buNone/>
            </a:pPr>
            <a:r>
              <a:rPr b="1" i="0" lang="en-US" sz="21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罪悪感を報酬に変える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209675" y="3463528"/>
            <a:ext cx="4898783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Noto Sans JP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Noto Sans JP"/>
                <a:ea typeface="Noto Sans JP"/>
                <a:cs typeface="Noto Sans JP"/>
                <a:sym typeface="Noto Sans JP"/>
              </a:rPr>
              <a:t>深夜ラーメン・運動サボり・夜更かしを記録すると、豚が喜び成長する。</a:t>
            </a:r>
            <a:endParaRPr b="0" i="0" sz="1800" u="none" cap="none" strike="noStrike">
              <a:solidFill>
                <a:srgbClr val="B8B5CC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Noto Sans JP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Noto Sans JP"/>
                <a:ea typeface="Noto Sans JP"/>
                <a:cs typeface="Noto Sans JP"/>
                <a:sym typeface="Noto Sans JP"/>
              </a:rPr>
              <a:t>記録のメンタルモデル自体を反転。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1209675" y="5098852"/>
            <a:ext cx="489878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FR-2 不健康な行動の記録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6470600" y="2177653"/>
            <a:ext cx="5346650" cy="3492698"/>
          </a:xfrm>
          <a:prstGeom prst="roundRect">
            <a:avLst>
              <a:gd fmla="val 4363" name="adj"/>
            </a:avLst>
          </a:prstGeom>
          <a:solidFill>
            <a:srgbClr val="1A1640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6765875" y="2453878"/>
            <a:ext cx="4898783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2400"/>
              <a:buFont typeface="JetBrains Mono"/>
              <a:buNone/>
            </a:pPr>
            <a:r>
              <a:rPr b="1" i="0" lang="en-US" sz="2400" u="none" cap="none" strike="noStrike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6765875" y="2996803"/>
            <a:ext cx="4898783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2100"/>
              <a:buFont typeface="Noto Sans JP"/>
              <a:buNone/>
            </a:pPr>
            <a:r>
              <a:rPr b="1" i="0" lang="en-US" sz="21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体重増加が “進化” になる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6765875" y="3463528"/>
            <a:ext cx="4898783" cy="7009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Noto Sans JP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Noto Sans JP"/>
                <a:ea typeface="Noto Sans JP"/>
                <a:cs typeface="Noto Sans JP"/>
                <a:sym typeface="Noto Sans JP"/>
              </a:rPr>
              <a:t>体重・BMI が大きくなるほどアバターが進化。健康指標の悪化がゲーム的快感に変換される。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6765875" y="5098852"/>
            <a:ext cx="489878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FR-4 アバター育成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12026801" y="2177653"/>
            <a:ext cx="5346650" cy="3492698"/>
          </a:xfrm>
          <a:prstGeom prst="roundRect">
            <a:avLst>
              <a:gd fmla="val 4363" name="adj"/>
            </a:avLst>
          </a:prstGeom>
          <a:solidFill>
            <a:srgbClr val="1A1640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12322076" y="2453878"/>
            <a:ext cx="4898783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2400"/>
              <a:buFont typeface="JetBrains Mono"/>
              <a:buNone/>
            </a:pPr>
            <a:r>
              <a:rPr b="1" i="0" lang="en-US" sz="2400" u="none" cap="none" strike="noStrike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12322076" y="2996803"/>
            <a:ext cx="4898783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2100"/>
              <a:buFont typeface="Noto Sans JP"/>
              <a:buNone/>
            </a:pPr>
            <a:r>
              <a:rPr b="1" i="0" lang="en-US" sz="21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ヘルスデータが “サボり検出器”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12322076" y="3463528"/>
            <a:ext cx="4898783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Noto Sans JP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Noto Sans JP"/>
                <a:ea typeface="Noto Sans JP"/>
                <a:cs typeface="Noto Sans JP"/>
                <a:sym typeface="Noto Sans JP"/>
              </a:rPr>
              <a:t>歩数・睡眠・</a:t>
            </a:r>
            <a:r>
              <a:rPr lang="en-US" sz="1800">
                <a:solidFill>
                  <a:srgbClr val="B8B5CC"/>
                </a:solidFill>
                <a:latin typeface="Noto Sans JP"/>
                <a:ea typeface="Noto Sans JP"/>
                <a:cs typeface="Noto Sans JP"/>
                <a:sym typeface="Noto Sans JP"/>
              </a:rPr>
              <a:t>スクリーンタイム</a:t>
            </a:r>
            <a:r>
              <a:rPr b="0" i="0" lang="en-US" sz="1800" u="none" cap="none" strike="noStrike">
                <a:solidFill>
                  <a:srgbClr val="B8B5CC"/>
                </a:solidFill>
                <a:latin typeface="Noto Sans JP"/>
                <a:ea typeface="Noto Sans JP"/>
                <a:cs typeface="Noto Sans JP"/>
                <a:sym typeface="Noto Sans JP"/>
              </a:rPr>
              <a:t>を</a:t>
            </a:r>
            <a:r>
              <a:rPr lang="en-US" sz="1800">
                <a:solidFill>
                  <a:srgbClr val="B8B5CC"/>
                </a:solidFill>
                <a:latin typeface="Noto Sans JP"/>
                <a:ea typeface="Noto Sans JP"/>
                <a:cs typeface="Noto Sans JP"/>
                <a:sym typeface="Noto Sans JP"/>
              </a:rPr>
              <a:t>自動</a:t>
            </a:r>
            <a:r>
              <a:rPr b="0" i="0" lang="en-US" sz="1800" u="none" cap="none" strike="noStrike">
                <a:solidFill>
                  <a:srgbClr val="B8B5CC"/>
                </a:solidFill>
                <a:latin typeface="Noto Sans JP"/>
                <a:ea typeface="Noto Sans JP"/>
                <a:cs typeface="Noto Sans JP"/>
                <a:sym typeface="Noto Sans JP"/>
              </a:rPr>
              <a:t>取得し、運動不足や夜更かしを自動検出。</a:t>
            </a:r>
            <a:endParaRPr b="0" i="0" sz="1800" u="none" cap="none" strike="noStrike">
              <a:solidFill>
                <a:srgbClr val="B8B5CC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Noto Sans JP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Noto Sans JP"/>
                <a:ea typeface="Noto Sans JP"/>
                <a:cs typeface="Noto Sans JP"/>
                <a:sym typeface="Noto Sans JP"/>
              </a:rPr>
              <a:t>記録不要</a:t>
            </a:r>
            <a:r>
              <a:rPr lang="en-US" sz="1800">
                <a:solidFill>
                  <a:srgbClr val="B8B5CC"/>
                </a:solidFill>
                <a:latin typeface="Noto Sans JP"/>
                <a:ea typeface="Noto Sans JP"/>
                <a:cs typeface="Noto Sans JP"/>
                <a:sym typeface="Noto Sans JP"/>
              </a:rPr>
              <a:t>のため、</a:t>
            </a:r>
            <a:r>
              <a:rPr lang="en-US" sz="1800">
                <a:solidFill>
                  <a:srgbClr val="B8B5CC"/>
                </a:solidFill>
                <a:latin typeface="Noto Sans JP"/>
                <a:ea typeface="Noto Sans JP"/>
                <a:cs typeface="Noto Sans JP"/>
                <a:sym typeface="Noto Sans JP"/>
              </a:rPr>
              <a:t>怠惰人間でも継続可能</a:t>
            </a:r>
            <a:r>
              <a:rPr b="0" i="0" lang="en-US" sz="1800" u="none" cap="none" strike="noStrike">
                <a:solidFill>
                  <a:srgbClr val="B8B5CC"/>
                </a:solidFill>
                <a:latin typeface="Noto Sans JP"/>
                <a:ea typeface="Noto Sans JP"/>
                <a:cs typeface="Noto Sans JP"/>
                <a:sym typeface="Noto Sans JP"/>
              </a:rPr>
              <a:t>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12322076" y="5098852"/>
            <a:ext cx="489878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FR-3 ヘルスデータ連携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914400" y="5879902"/>
            <a:ext cx="5346650" cy="3492698"/>
          </a:xfrm>
          <a:prstGeom prst="roundRect">
            <a:avLst>
              <a:gd fmla="val 4363" name="adj"/>
            </a:avLst>
          </a:prstGeom>
          <a:solidFill>
            <a:srgbClr val="1A1640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1209675" y="6156127"/>
            <a:ext cx="4898783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2400"/>
              <a:buFont typeface="JetBrains Mono"/>
              <a:buNone/>
            </a:pPr>
            <a:r>
              <a:rPr b="1" i="0" lang="en-US" sz="2400" u="none" cap="none" strike="noStrike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1209675" y="6699052"/>
            <a:ext cx="4898783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2100"/>
              <a:buFont typeface="Noto Sans JP"/>
              <a:buNone/>
            </a:pPr>
            <a:r>
              <a:rPr b="1" i="0" lang="en-US" sz="21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ダメさで他人と戦う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1209675" y="7165777"/>
            <a:ext cx="4898783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Noto Sans JP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Noto Sans JP"/>
                <a:ea typeface="Noto Sans JP"/>
                <a:cs typeface="Noto Sans JP"/>
                <a:sym typeface="Noto Sans JP"/>
              </a:rPr>
              <a:t>育てた豚同士でリアルタイム対戦。</a:t>
            </a:r>
            <a:r>
              <a:rPr lang="en-US" sz="1800">
                <a:solidFill>
                  <a:srgbClr val="B8B5CC"/>
                </a:solidFill>
                <a:latin typeface="Noto Sans JP"/>
                <a:ea typeface="Noto Sans JP"/>
                <a:cs typeface="Noto Sans JP"/>
                <a:sym typeface="Noto Sans JP"/>
              </a:rPr>
              <a:t>自身の</a:t>
            </a:r>
            <a:r>
              <a:rPr b="0" i="0" lang="en-US" sz="1800" u="none" cap="none" strike="noStrike">
                <a:solidFill>
                  <a:srgbClr val="B8B5CC"/>
                </a:solidFill>
                <a:latin typeface="Noto Sans JP"/>
                <a:ea typeface="Noto Sans JP"/>
                <a:cs typeface="Noto Sans JP"/>
                <a:sym typeface="Noto Sans JP"/>
              </a:rPr>
              <a:t>夜更かし</a:t>
            </a:r>
            <a:r>
              <a:rPr lang="en-US" sz="1800">
                <a:solidFill>
                  <a:srgbClr val="B8B5CC"/>
                </a:solidFill>
                <a:latin typeface="Noto Sans JP"/>
                <a:ea typeface="Noto Sans JP"/>
                <a:cs typeface="Noto Sans JP"/>
                <a:sym typeface="Noto Sans JP"/>
              </a:rPr>
              <a:t>頻度や</a:t>
            </a:r>
            <a:r>
              <a:rPr b="0" i="0" lang="en-US" sz="1800" u="none" cap="none" strike="noStrike">
                <a:solidFill>
                  <a:srgbClr val="B8B5CC"/>
                </a:solidFill>
                <a:latin typeface="Noto Sans JP"/>
                <a:ea typeface="Noto Sans JP"/>
                <a:cs typeface="Noto Sans JP"/>
                <a:sym typeface="Noto Sans JP"/>
              </a:rPr>
              <a:t>サボりスキルがバトルステータス</a:t>
            </a:r>
            <a:r>
              <a:rPr lang="en-US" sz="1800">
                <a:solidFill>
                  <a:srgbClr val="B8B5CC"/>
                </a:solidFill>
                <a:latin typeface="Noto Sans JP"/>
                <a:ea typeface="Noto Sans JP"/>
                <a:cs typeface="Noto Sans JP"/>
                <a:sym typeface="Noto Sans JP"/>
              </a:rPr>
              <a:t>となり、怠惰な自分の映し鏡が相手を蹂躙する。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1209675" y="8801100"/>
            <a:ext cx="489878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FR-5 リアルタイムバトル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6470600" y="5879902"/>
            <a:ext cx="5346650" cy="3492698"/>
          </a:xfrm>
          <a:prstGeom prst="roundRect">
            <a:avLst>
              <a:gd fmla="val 4363" name="adj"/>
            </a:avLst>
          </a:prstGeom>
          <a:solidFill>
            <a:srgbClr val="1A1640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6765875" y="6156127"/>
            <a:ext cx="4898783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2400"/>
              <a:buFont typeface="JetBrains Mono"/>
              <a:buNone/>
            </a:pPr>
            <a:r>
              <a:rPr b="1" i="0" lang="en-US" sz="2400" u="none" cap="none" strike="noStrike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6765875" y="6699052"/>
            <a:ext cx="4898783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2100"/>
              <a:buFont typeface="Noto Sans JP"/>
              <a:buNone/>
            </a:pPr>
            <a:r>
              <a:rPr b="1" i="0" lang="en-US" sz="21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ダメさをシェアできる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6765875" y="7165777"/>
            <a:ext cx="4898783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Noto Sans JP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Noto Sans JP"/>
                <a:ea typeface="Noto Sans JP"/>
                <a:cs typeface="Noto Sans JP"/>
                <a:sym typeface="Noto Sans JP"/>
              </a:rPr>
              <a:t>“今日の俺の豚” を友達と見せ合</a:t>
            </a:r>
            <a:r>
              <a:rPr lang="en-US" sz="1800">
                <a:solidFill>
                  <a:srgbClr val="B8B5CC"/>
                </a:solidFill>
                <a:latin typeface="Noto Sans JP"/>
                <a:ea typeface="Noto Sans JP"/>
                <a:cs typeface="Noto Sans JP"/>
                <a:sym typeface="Noto Sans JP"/>
              </a:rPr>
              <a:t>い、</a:t>
            </a:r>
            <a:r>
              <a:rPr b="0" i="0" lang="en-US" sz="1800" u="none" cap="none" strike="noStrike">
                <a:solidFill>
                  <a:srgbClr val="B8B5CC"/>
                </a:solidFill>
                <a:latin typeface="Noto Sans JP"/>
                <a:ea typeface="Noto Sans JP"/>
                <a:cs typeface="Noto Sans JP"/>
                <a:sym typeface="Noto Sans JP"/>
              </a:rPr>
              <a:t>SNS シェアで</a:t>
            </a:r>
            <a:r>
              <a:rPr lang="en-US" sz="1800">
                <a:solidFill>
                  <a:srgbClr val="B8B5CC"/>
                </a:solidFill>
                <a:latin typeface="Noto Sans JP"/>
                <a:ea typeface="Noto Sans JP"/>
                <a:cs typeface="Noto Sans JP"/>
                <a:sym typeface="Noto Sans JP"/>
              </a:rPr>
              <a:t>周囲の人間まで怠惰化させる</a:t>
            </a:r>
            <a:r>
              <a:rPr b="0" i="0" lang="en-US" sz="1800" u="none" cap="none" strike="noStrike">
                <a:solidFill>
                  <a:srgbClr val="B8B5CC"/>
                </a:solidFill>
                <a:latin typeface="Noto Sans JP"/>
                <a:ea typeface="Noto Sans JP"/>
                <a:cs typeface="Noto Sans JP"/>
                <a:sym typeface="Noto Sans JP"/>
              </a:rPr>
              <a:t>。</a:t>
            </a:r>
            <a:endParaRPr b="0" i="0" sz="1800" u="none" cap="none" strike="noStrike">
              <a:solidFill>
                <a:srgbClr val="B8B5CC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Noto Sans JP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Noto Sans JP"/>
                <a:ea typeface="Noto Sans JP"/>
                <a:cs typeface="Noto Sans JP"/>
                <a:sym typeface="Noto Sans JP"/>
              </a:rPr>
              <a:t>共有された罪悪感は、もう罪悪感ではない。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6765875" y="8801100"/>
            <a:ext cx="489878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FR-6 ソーシャル機能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12026801" y="5879902"/>
            <a:ext cx="5346650" cy="3492698"/>
          </a:xfrm>
          <a:prstGeom prst="roundRect">
            <a:avLst>
              <a:gd fmla="val 4363" name="adj"/>
            </a:avLst>
          </a:prstGeom>
          <a:solidFill>
            <a:srgbClr val="FF6B9D">
              <a:alpha val="18039"/>
            </a:srgbClr>
          </a:solidFill>
          <a:ln cap="flat" cmpd="sng" w="9525">
            <a:solidFill>
              <a:srgbClr val="FF6B9D">
                <a:alpha val="3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12322076" y="6156127"/>
            <a:ext cx="4898783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2400"/>
              <a:buFont typeface="JetBrains Mono"/>
              <a:buNone/>
            </a:pPr>
            <a:r>
              <a:rPr b="1" i="0" lang="en-US" sz="2400" u="none" cap="none" strike="noStrike">
                <a:solidFill>
                  <a:srgbClr val="FFD1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06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12322076" y="6699052"/>
            <a:ext cx="4898783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2100"/>
              <a:buFont typeface="Noto Sans JP"/>
              <a:buNone/>
            </a:pPr>
            <a:r>
              <a:rPr b="1" i="0" lang="en-US" sz="21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ダメな自分を愛する装置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12322076" y="7165777"/>
            <a:ext cx="4898783" cy="10324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Noto Sans JP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Noto Sans JP"/>
                <a:ea typeface="Noto Sans JP"/>
                <a:cs typeface="Noto Sans JP"/>
                <a:sym typeface="Noto Sans JP"/>
              </a:rPr>
              <a:t>“ダメな自分” を客観視し、キャラとして可愛がる体験。セルフコンパッションを育</a:t>
            </a:r>
            <a:r>
              <a:rPr lang="en-US" sz="1800">
                <a:solidFill>
                  <a:srgbClr val="B8B5CC"/>
                </a:solidFill>
                <a:latin typeface="Noto Sans JP"/>
                <a:ea typeface="Noto Sans JP"/>
                <a:cs typeface="Noto Sans JP"/>
                <a:sym typeface="Noto Sans JP"/>
              </a:rPr>
              <a:t>み、社会の競争に疲れたユーザーを優しく包み込む。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12322076" y="8801100"/>
            <a:ext cx="489878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体験ゴール (全体)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B1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5"/>
          <p:cNvSpPr/>
          <p:nvPr/>
        </p:nvSpPr>
        <p:spPr>
          <a:xfrm>
            <a:off x="914400" y="381000"/>
            <a:ext cx="3203823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プロダクト概要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914400" y="2087325"/>
            <a:ext cx="9617100" cy="11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6300"/>
              <a:buFont typeface="Noto Sans JP"/>
              <a:buNone/>
            </a:pPr>
            <a:r>
              <a:rPr b="1" i="0" lang="en-US" sz="63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食べて、寝て、サボって、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914400" y="2927300"/>
            <a:ext cx="5320800" cy="119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6300"/>
              <a:buFont typeface="Noto Sans JP"/>
              <a:buNone/>
            </a:pPr>
            <a:r>
              <a:rPr b="1" i="0" lang="en-US" sz="63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育てる。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914400" y="4157800"/>
            <a:ext cx="10448100" cy="9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3600"/>
              <a:buFont typeface="Noto Sans JP"/>
              <a:buNone/>
            </a:pPr>
            <a:r>
              <a:rPr b="0" i="0" lang="en-US" sz="3600" u="none" cap="none" strike="noStrike">
                <a:solidFill>
                  <a:srgbClr val="B8B5CC"/>
                </a:solidFill>
                <a:latin typeface="Noto Sans JP"/>
                <a:ea typeface="Noto Sans JP"/>
                <a:cs typeface="Noto Sans JP"/>
                <a:sym typeface="Noto Sans JP"/>
              </a:rPr>
              <a:t>あなたの“ダメな日常”が、 </a:t>
            </a:r>
            <a:r>
              <a:rPr b="0" i="0" lang="en-US" sz="3600" u="none" cap="none" strike="noStrike">
                <a:solidFill>
                  <a:srgbClr val="FF6B9D"/>
                </a:solidFill>
                <a:latin typeface="Noto Sans JP"/>
                <a:ea typeface="Noto Sans JP"/>
                <a:cs typeface="Noto Sans JP"/>
                <a:sym typeface="Noto Sans JP"/>
              </a:rPr>
              <a:t>分身の豚</a:t>
            </a:r>
            <a:r>
              <a:rPr b="0" i="0" lang="en-US" sz="3600" u="none" cap="none" strike="noStrike">
                <a:solidFill>
                  <a:srgbClr val="B8B5CC"/>
                </a:solidFill>
                <a:latin typeface="Noto Sans JP"/>
                <a:ea typeface="Noto Sans JP"/>
                <a:cs typeface="Noto Sans JP"/>
                <a:sym typeface="Noto Sans JP"/>
              </a:rPr>
              <a:t>を育てる。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914400" y="5384450"/>
            <a:ext cx="94347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Noto Sans JP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Noto Sans JP"/>
                <a:ea typeface="Noto Sans JP"/>
                <a:cs typeface="Noto Sans JP"/>
                <a:sym typeface="Noto Sans JP"/>
              </a:rPr>
              <a:t>3タップ以内のカテゴリ選択式手動記録と、Apple HealthKit / Google Health Connect からの自動検出を組み合わせ、不健康な行動を不健康ポイントに変換。アバターは AI 生成画像と短動画クリップで進化を表現します。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914400" y="7312075"/>
            <a:ext cx="2548235" cy="9066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7200"/>
              <a:buFont typeface="Outfit"/>
              <a:buNone/>
            </a:pPr>
            <a:r>
              <a:rPr b="1" i="0" lang="en-US" sz="7200" u="none" cap="none" strike="noStrike">
                <a:solidFill>
                  <a:srgbClr val="FFD166"/>
                </a:solidFill>
                <a:latin typeface="Outfit"/>
                <a:ea typeface="Outfit"/>
                <a:cs typeface="Outfit"/>
                <a:sym typeface="Outfit"/>
              </a:rPr>
              <a:t>7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914400" y="8256836"/>
            <a:ext cx="2548235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機能要件 FR-1〜7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5"/>
          <p:cNvSpPr/>
          <p:nvPr/>
        </p:nvSpPr>
        <p:spPr>
          <a:xfrm>
            <a:off x="3919835" y="7312075"/>
            <a:ext cx="2575620" cy="9066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7200"/>
              <a:buFont typeface="Outfit"/>
              <a:buNone/>
            </a:pPr>
            <a:r>
              <a:rPr b="1" i="0" lang="en-US" sz="7200" u="none" cap="none" strike="noStrike">
                <a:solidFill>
                  <a:srgbClr val="FFD166"/>
                </a:solidFill>
                <a:latin typeface="Outfit"/>
                <a:ea typeface="Outfit"/>
                <a:cs typeface="Outfit"/>
                <a:sym typeface="Outfit"/>
              </a:rPr>
              <a:t>57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3919835" y="8256836"/>
            <a:ext cx="257562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ユーザーストーリー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5"/>
          <p:cNvSpPr/>
          <p:nvPr/>
        </p:nvSpPr>
        <p:spPr>
          <a:xfrm>
            <a:off x="6952655" y="7312075"/>
            <a:ext cx="2260253" cy="9066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7200"/>
              <a:buFont typeface="Outfit"/>
              <a:buNone/>
            </a:pPr>
            <a:r>
              <a:rPr b="1" i="0" lang="en-US" sz="7200" u="none" cap="none" strike="noStrike">
                <a:solidFill>
                  <a:srgbClr val="FFD166"/>
                </a:solidFill>
                <a:latin typeface="Outfit"/>
                <a:ea typeface="Outfit"/>
                <a:cs typeface="Outfit"/>
                <a:sym typeface="Outfit"/>
              </a:rPr>
              <a:t>5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5"/>
          <p:cNvSpPr/>
          <p:nvPr/>
        </p:nvSpPr>
        <p:spPr>
          <a:xfrm>
            <a:off x="6952655" y="8256836"/>
            <a:ext cx="226025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UNIT OF WORK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12931198" y="9588027"/>
            <a:ext cx="43044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Flutter ／ iOS ／ Android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14900" y="885825"/>
            <a:ext cx="6477000" cy="8505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B1E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6"/>
          <p:cNvSpPr/>
          <p:nvPr/>
        </p:nvSpPr>
        <p:spPr>
          <a:xfrm>
            <a:off x="914400" y="381000"/>
            <a:ext cx="688208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提出物 — AI-DLC INCEPTION 成果物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914400" y="914400"/>
            <a:ext cx="16952976" cy="80605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5400"/>
              <a:buFont typeface="Noto Sans JP"/>
              <a:buNone/>
            </a:pPr>
            <a:r>
              <a:rPr b="1" i="0" lang="en-US" sz="54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aidlc-docs/ に </a:t>
            </a:r>
            <a:r>
              <a:rPr b="1" i="0" lang="en-US" sz="5400" u="none" cap="none" strike="noStrike">
                <a:solidFill>
                  <a:srgbClr val="FFD166"/>
                </a:solidFill>
                <a:latin typeface="Noto Sans JP"/>
                <a:ea typeface="Noto Sans JP"/>
                <a:cs typeface="Noto Sans JP"/>
                <a:sym typeface="Noto Sans JP"/>
              </a:rPr>
              <a:t>全 31 ファイル </a:t>
            </a:r>
            <a:r>
              <a:rPr b="1" i="0" lang="en-US" sz="54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を公開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914400" y="1853800"/>
            <a:ext cx="15737400" cy="9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2400"/>
              <a:buFont typeface="Noto Sans JP"/>
              <a:buNone/>
            </a:pPr>
            <a:r>
              <a:rPr b="1" i="0" lang="en-US" sz="24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awslabs/aidlc-workflows </a:t>
            </a:r>
            <a:r>
              <a:rPr b="0" i="0" lang="en-US" sz="2400" u="none" cap="none" strike="noStrike">
                <a:solidFill>
                  <a:srgbClr val="B8B5CC"/>
                </a:solidFill>
                <a:latin typeface="Noto Sans JP"/>
                <a:ea typeface="Noto Sans JP"/>
                <a:cs typeface="Noto Sans JP"/>
                <a:sym typeface="Noto Sans JP"/>
              </a:rPr>
              <a:t>に準拠。</a:t>
            </a:r>
            <a:br>
              <a:rPr b="0" i="0" lang="en-US" sz="2400" u="none" cap="none" strike="noStrike">
                <a:solidFill>
                  <a:srgbClr val="B8B5CC"/>
                </a:solidFill>
                <a:latin typeface="Noto Sans JP"/>
                <a:ea typeface="Noto Sans JP"/>
                <a:cs typeface="Noto Sans JP"/>
                <a:sym typeface="Noto Sans JP"/>
              </a:rPr>
            </a:br>
            <a:r>
              <a:rPr b="0" i="0" lang="en-US" sz="2400" u="none" cap="none" strike="noStrike">
                <a:solidFill>
                  <a:srgbClr val="B8B5CC"/>
                </a:solidFill>
                <a:latin typeface="Noto Sans JP"/>
                <a:ea typeface="Noto Sans JP"/>
                <a:cs typeface="Noto Sans JP"/>
                <a:sym typeface="Noto Sans JP"/>
              </a:rPr>
              <a:t>要件分析 → ユーザーストーリー → アプリケーション設計 → Unit of Work までの全 Inception 成果物。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914400" y="3255764"/>
            <a:ext cx="8396883" cy="6116836"/>
          </a:xfrm>
          <a:prstGeom prst="roundRect">
            <a:avLst>
              <a:gd fmla="val 2803" name="adj"/>
            </a:avLst>
          </a:prstGeom>
          <a:solidFill>
            <a:srgbClr val="1A1640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6"/>
          <p:cNvSpPr/>
          <p:nvPr/>
        </p:nvSpPr>
        <p:spPr>
          <a:xfrm>
            <a:off x="1266825" y="3531989"/>
            <a:ext cx="7922794" cy="3628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650"/>
              <a:buFont typeface="JetBrains Mono"/>
              <a:buNone/>
            </a:pPr>
            <a:r>
              <a:rPr b="1" i="0" lang="en-US" sz="1650" u="none" cap="none" strike="noStrike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aidlc-docs/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1266825" y="3856732"/>
            <a:ext cx="7922794" cy="3628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650"/>
              <a:buFont typeface="JetBrains Mono"/>
              <a:buNone/>
            </a:pPr>
            <a:r>
              <a:rPr b="0" i="0" lang="en-US" sz="165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├─ </a:t>
            </a:r>
            <a:r>
              <a:rPr b="0" i="0" lang="en-US" sz="1650" u="none" cap="none" strike="noStrike">
                <a:solidFill>
                  <a:srgbClr val="FFFA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aidlc-state.md          </a:t>
            </a:r>
            <a:r>
              <a:rPr b="0" i="0" lang="en-US" sz="1650" u="none" cap="none" strike="noStrike">
                <a:solidFill>
                  <a:srgbClr val="FFD1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進捗の単一情報源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1266825" y="4181475"/>
            <a:ext cx="7922794" cy="3628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650"/>
              <a:buFont typeface="JetBrains Mono"/>
              <a:buNone/>
            </a:pPr>
            <a:r>
              <a:rPr b="0" i="0" lang="en-US" sz="165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├─ </a:t>
            </a:r>
            <a:r>
              <a:rPr b="0" i="0" lang="en-US" sz="1650" u="none" cap="none" strike="noStrike">
                <a:solidFill>
                  <a:srgbClr val="FFFA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audit.md                </a:t>
            </a:r>
            <a:r>
              <a:rPr b="0" i="0" lang="en-US" sz="1650" u="none" cap="none" strike="noStrike">
                <a:solidFill>
                  <a:srgbClr val="FFD1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監査ログ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1266825" y="4506218"/>
            <a:ext cx="7922794" cy="3628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650"/>
              <a:buFont typeface="JetBrains Mono"/>
              <a:buNone/>
            </a:pPr>
            <a:r>
              <a:rPr b="0" i="0" lang="en-US" sz="165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└─ </a:t>
            </a:r>
            <a:r>
              <a:rPr b="0" i="0" lang="en-US" sz="1650" u="none" cap="none" strike="noStrike">
                <a:solidFill>
                  <a:srgbClr val="FFFA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inception/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1266825" y="4830961"/>
            <a:ext cx="7922794" cy="3628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650"/>
              <a:buFont typeface="JetBrains Mono"/>
              <a:buNone/>
            </a:pPr>
            <a:r>
              <a:rPr b="0" i="0" lang="en-US" sz="165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├─ </a:t>
            </a:r>
            <a:r>
              <a:rPr b="0" i="0" lang="en-US" sz="1650" u="none" cap="none" strike="noStrike">
                <a:solidFill>
                  <a:srgbClr val="FFFA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requirements/      </a:t>
            </a:r>
            <a:r>
              <a:rPr b="0" i="0" lang="en-US" sz="1650" u="none" cap="none" strike="noStrike">
                <a:solidFill>
                  <a:srgbClr val="FFD1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FR-1〜7 / NFR-1〜5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1266825" y="5155704"/>
            <a:ext cx="7922794" cy="3628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650"/>
              <a:buFont typeface="JetBrains Mono"/>
              <a:buNone/>
            </a:pPr>
            <a:r>
              <a:rPr b="0" i="0" lang="en-US" sz="165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│  └─</a:t>
            </a:r>
            <a:r>
              <a:rPr b="0" i="0" lang="en-US" sz="1650" u="none" cap="none" strike="noStrike">
                <a:solidFill>
                  <a:srgbClr val="FFFA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requirements.md ＋ 確認質問 3 docs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1266825" y="5480447"/>
            <a:ext cx="7922794" cy="3628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650"/>
              <a:buFont typeface="JetBrains Mono"/>
              <a:buNone/>
            </a:pPr>
            <a:r>
              <a:rPr b="0" i="0" lang="en-US" sz="165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├─ </a:t>
            </a:r>
            <a:r>
              <a:rPr b="0" i="0" lang="en-US" sz="1650" u="none" cap="none" strike="noStrike">
                <a:solidFill>
                  <a:srgbClr val="FFFA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user-stories/      </a:t>
            </a:r>
            <a:r>
              <a:rPr b="0" i="0" lang="en-US" sz="1650" u="none" cap="none" strike="noStrike">
                <a:solidFill>
                  <a:srgbClr val="FFD1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57 stories / 2 personas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1266825" y="5805190"/>
            <a:ext cx="7922794" cy="3628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650"/>
              <a:buFont typeface="JetBrains Mono"/>
              <a:buNone/>
            </a:pPr>
            <a:r>
              <a:rPr b="0" i="0" lang="en-US" sz="165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│  ├─</a:t>
            </a:r>
            <a:r>
              <a:rPr b="0" i="0" lang="en-US" sz="1650" u="none" cap="none" strike="noStrike">
                <a:solidFill>
                  <a:srgbClr val="FFFA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personas.md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1266825" y="6129933"/>
            <a:ext cx="7922794" cy="3628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650"/>
              <a:buFont typeface="JetBrains Mono"/>
              <a:buNone/>
            </a:pPr>
            <a:r>
              <a:rPr b="0" i="0" lang="en-US" sz="165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│  ├─</a:t>
            </a:r>
            <a:r>
              <a:rPr b="0" i="0" lang="en-US" sz="1650" u="none" cap="none" strike="noStrike">
                <a:solidFill>
                  <a:srgbClr val="FFFA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stories-fr1〜7.md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1266825" y="6454676"/>
            <a:ext cx="7922794" cy="3628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650"/>
              <a:buFont typeface="JetBrains Mono"/>
              <a:buNone/>
            </a:pPr>
            <a:r>
              <a:rPr b="0" i="0" lang="en-US" sz="165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│  └─</a:t>
            </a:r>
            <a:r>
              <a:rPr b="0" i="0" lang="en-US" sz="1650" u="none" cap="none" strike="noStrike">
                <a:solidFill>
                  <a:srgbClr val="FFFA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battle-ui-mock.html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1266825" y="6779419"/>
            <a:ext cx="7922794" cy="3628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650"/>
              <a:buFont typeface="JetBrains Mono"/>
              <a:buNone/>
            </a:pPr>
            <a:r>
              <a:rPr b="0" i="0" lang="en-US" sz="165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├─ </a:t>
            </a:r>
            <a:r>
              <a:rPr b="0" i="0" lang="en-US" sz="1650" u="none" cap="none" strike="noStrike">
                <a:solidFill>
                  <a:srgbClr val="FFFA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application-design/ </a:t>
            </a:r>
            <a:r>
              <a:rPr b="0" i="0" lang="en-US" sz="1650" u="none" cap="none" strike="noStrike">
                <a:solidFill>
                  <a:srgbClr val="FFD1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7 設計ドキュメント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1266825" y="7104162"/>
            <a:ext cx="7922794" cy="3628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650"/>
              <a:buFont typeface="JetBrains Mono"/>
              <a:buNone/>
            </a:pPr>
            <a:r>
              <a:rPr b="0" i="0" lang="en-US" sz="165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│  ├─</a:t>
            </a:r>
            <a:r>
              <a:rPr b="0" i="0" lang="en-US" sz="1650" u="none" cap="none" strike="noStrike">
                <a:solidFill>
                  <a:srgbClr val="FFFA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application-design.md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1266825" y="7428905"/>
            <a:ext cx="7922794" cy="3628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650"/>
              <a:buFont typeface="JetBrains Mono"/>
              <a:buNone/>
            </a:pPr>
            <a:r>
              <a:rPr b="0" i="0" lang="en-US" sz="165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│  ├─</a:t>
            </a:r>
            <a:r>
              <a:rPr b="0" i="0" lang="en-US" sz="1650" u="none" cap="none" strike="noStrike">
                <a:solidFill>
                  <a:srgbClr val="FFFA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components.md ／ component-methods.md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1266825" y="7753648"/>
            <a:ext cx="7922794" cy="3628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650"/>
              <a:buFont typeface="JetBrains Mono"/>
              <a:buNone/>
            </a:pPr>
            <a:r>
              <a:rPr b="0" i="0" lang="en-US" sz="165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│  ├─</a:t>
            </a:r>
            <a:r>
              <a:rPr b="0" i="0" lang="en-US" sz="1650" u="none" cap="none" strike="noStrike">
                <a:solidFill>
                  <a:srgbClr val="FFFA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services.md ／ component-dependency.md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1266825" y="8078391"/>
            <a:ext cx="7922794" cy="3628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650"/>
              <a:buFont typeface="JetBrains Mono"/>
              <a:buNone/>
            </a:pPr>
            <a:r>
              <a:rPr b="0" i="0" lang="en-US" sz="165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│  └─</a:t>
            </a:r>
            <a:r>
              <a:rPr b="0" i="0" lang="en-US" sz="1650" u="none" cap="none" strike="noStrike">
                <a:solidFill>
                  <a:srgbClr val="FFFA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unit-of-work.md ／ unit-of-work-story-map.md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1266825" y="8403134"/>
            <a:ext cx="7922794" cy="3628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650"/>
              <a:buFont typeface="JetBrains Mono"/>
              <a:buNone/>
            </a:pPr>
            <a:r>
              <a:rPr b="0" i="0" lang="en-US" sz="165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   └─ </a:t>
            </a:r>
            <a:r>
              <a:rPr b="0" i="0" lang="en-US" sz="1650" u="none" cap="none" strike="noStrike">
                <a:solidFill>
                  <a:srgbClr val="FFFA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plans/             </a:t>
            </a:r>
            <a:r>
              <a:rPr b="0" i="0" lang="en-US" sz="1650" u="none" cap="none" strike="noStrike">
                <a:solidFill>
                  <a:srgbClr val="FFD1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# 各フェーズ計画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9844683" y="3255764"/>
            <a:ext cx="775463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AIDLC-WORKFLOWS 準拠状況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9844683" y="3722489"/>
            <a:ext cx="7528768" cy="619125"/>
          </a:xfrm>
          <a:prstGeom prst="roundRect">
            <a:avLst>
              <a:gd fmla="val 18462" name="adj"/>
            </a:avLst>
          </a:prstGeom>
          <a:solidFill>
            <a:srgbClr val="1A1640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"/>
          <p:cNvSpPr/>
          <p:nvPr/>
        </p:nvSpPr>
        <p:spPr>
          <a:xfrm>
            <a:off x="10025658" y="3898702"/>
            <a:ext cx="266700" cy="266700"/>
          </a:xfrm>
          <a:prstGeom prst="ellipse">
            <a:avLst/>
          </a:prstGeom>
          <a:solidFill>
            <a:srgbClr val="FFD166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10025658" y="3898702"/>
            <a:ext cx="342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200"/>
              <a:buFont typeface="Noto Sans JP"/>
              <a:buNone/>
            </a:pPr>
            <a:r>
              <a:rPr b="1" i="0" lang="en-US" sz="1200" u="none" cap="none" strike="noStrike">
                <a:solidFill>
                  <a:srgbClr val="FFD166"/>
                </a:solidFill>
                <a:latin typeface="Noto Sans JP"/>
                <a:ea typeface="Noto Sans JP"/>
                <a:cs typeface="Noto Sans JP"/>
                <a:sym typeface="Noto Sans JP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10501908" y="3865364"/>
            <a:ext cx="534118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Noto Sans JP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Workspace Detection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15820876" y="3884414"/>
            <a:ext cx="14478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Greenfield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9844683" y="4436864"/>
            <a:ext cx="7528768" cy="619125"/>
          </a:xfrm>
          <a:prstGeom prst="roundRect">
            <a:avLst>
              <a:gd fmla="val 18462" name="adj"/>
            </a:avLst>
          </a:prstGeom>
          <a:solidFill>
            <a:srgbClr val="1A1640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10025658" y="4613077"/>
            <a:ext cx="266700" cy="266700"/>
          </a:xfrm>
          <a:prstGeom prst="ellipse">
            <a:avLst/>
          </a:prstGeom>
          <a:solidFill>
            <a:srgbClr val="FFD166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"/>
          <p:cNvSpPr/>
          <p:nvPr/>
        </p:nvSpPr>
        <p:spPr>
          <a:xfrm>
            <a:off x="10025658" y="4613077"/>
            <a:ext cx="342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200"/>
              <a:buFont typeface="Noto Sans JP"/>
              <a:buNone/>
            </a:pPr>
            <a:r>
              <a:rPr b="1" i="0" lang="en-US" sz="1200" u="none" cap="none" strike="noStrike">
                <a:solidFill>
                  <a:srgbClr val="FFD166"/>
                </a:solidFill>
                <a:latin typeface="Noto Sans JP"/>
                <a:ea typeface="Noto Sans JP"/>
                <a:cs typeface="Noto Sans JP"/>
                <a:sym typeface="Noto Sans JP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10501908" y="4579739"/>
            <a:ext cx="5812103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Noto Sans JP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Requirements Analysis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16278076" y="4598789"/>
            <a:ext cx="9906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FR-1〜7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9844683" y="5151239"/>
            <a:ext cx="7528768" cy="619125"/>
          </a:xfrm>
          <a:prstGeom prst="roundRect">
            <a:avLst>
              <a:gd fmla="val 18462" name="adj"/>
            </a:avLst>
          </a:prstGeom>
          <a:solidFill>
            <a:srgbClr val="1A1640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"/>
          <p:cNvSpPr/>
          <p:nvPr/>
        </p:nvSpPr>
        <p:spPr>
          <a:xfrm>
            <a:off x="10025658" y="5327452"/>
            <a:ext cx="266700" cy="266700"/>
          </a:xfrm>
          <a:prstGeom prst="ellipse">
            <a:avLst/>
          </a:prstGeom>
          <a:solidFill>
            <a:srgbClr val="FFD166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"/>
          <p:cNvSpPr/>
          <p:nvPr/>
        </p:nvSpPr>
        <p:spPr>
          <a:xfrm>
            <a:off x="10025658" y="5327452"/>
            <a:ext cx="342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200"/>
              <a:buFont typeface="Noto Sans JP"/>
              <a:buNone/>
            </a:pPr>
            <a:r>
              <a:rPr b="1" i="0" lang="en-US" sz="1200" u="none" cap="none" strike="noStrike">
                <a:solidFill>
                  <a:srgbClr val="FFD166"/>
                </a:solidFill>
                <a:latin typeface="Noto Sans JP"/>
                <a:ea typeface="Noto Sans JP"/>
                <a:cs typeface="Noto Sans JP"/>
                <a:sym typeface="Noto Sans JP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10501908" y="5294114"/>
            <a:ext cx="534118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Noto Sans JP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User Stories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15820876" y="5313164"/>
            <a:ext cx="14478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57 stories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9844683" y="5865614"/>
            <a:ext cx="7528768" cy="619125"/>
          </a:xfrm>
          <a:prstGeom prst="roundRect">
            <a:avLst>
              <a:gd fmla="val 18462" name="adj"/>
            </a:avLst>
          </a:prstGeom>
          <a:solidFill>
            <a:srgbClr val="1A1640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6"/>
          <p:cNvSpPr/>
          <p:nvPr/>
        </p:nvSpPr>
        <p:spPr>
          <a:xfrm>
            <a:off x="10025658" y="6041827"/>
            <a:ext cx="266700" cy="266700"/>
          </a:xfrm>
          <a:prstGeom prst="ellipse">
            <a:avLst/>
          </a:prstGeom>
          <a:solidFill>
            <a:srgbClr val="FFD166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10025658" y="6041827"/>
            <a:ext cx="342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200"/>
              <a:buFont typeface="Noto Sans JP"/>
              <a:buNone/>
            </a:pPr>
            <a:r>
              <a:rPr b="1" i="0" lang="en-US" sz="1200" u="none" cap="none" strike="noStrike">
                <a:solidFill>
                  <a:srgbClr val="FFD166"/>
                </a:solidFill>
                <a:latin typeface="Noto Sans JP"/>
                <a:ea typeface="Noto Sans JP"/>
                <a:cs typeface="Noto Sans JP"/>
                <a:sym typeface="Noto Sans JP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10501908" y="6008489"/>
            <a:ext cx="576488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Noto Sans JP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Workflow Planning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16232237" y="6027539"/>
            <a:ext cx="103643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EXECUTE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9844683" y="6579989"/>
            <a:ext cx="7528768" cy="619125"/>
          </a:xfrm>
          <a:prstGeom prst="roundRect">
            <a:avLst>
              <a:gd fmla="val 18462" name="adj"/>
            </a:avLst>
          </a:prstGeom>
          <a:solidFill>
            <a:srgbClr val="1A1640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10025658" y="6756202"/>
            <a:ext cx="266700" cy="266700"/>
          </a:xfrm>
          <a:prstGeom prst="ellipse">
            <a:avLst/>
          </a:prstGeom>
          <a:solidFill>
            <a:srgbClr val="FFD166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10025658" y="6756202"/>
            <a:ext cx="342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200"/>
              <a:buFont typeface="Noto Sans JP"/>
              <a:buNone/>
            </a:pPr>
            <a:r>
              <a:rPr b="1" i="0" lang="en-US" sz="1200" u="none" cap="none" strike="noStrike">
                <a:solidFill>
                  <a:srgbClr val="FFD166"/>
                </a:solidFill>
                <a:latin typeface="Noto Sans JP"/>
                <a:ea typeface="Noto Sans JP"/>
                <a:cs typeface="Noto Sans JP"/>
                <a:sym typeface="Noto Sans JP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6"/>
          <p:cNvSpPr/>
          <p:nvPr/>
        </p:nvSpPr>
        <p:spPr>
          <a:xfrm>
            <a:off x="10501908" y="6722864"/>
            <a:ext cx="59062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Noto Sans JP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Application Design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6"/>
          <p:cNvSpPr/>
          <p:nvPr/>
        </p:nvSpPr>
        <p:spPr>
          <a:xfrm>
            <a:off x="16369457" y="6741914"/>
            <a:ext cx="89922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7 docs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/>
          <p:nvPr/>
        </p:nvSpPr>
        <p:spPr>
          <a:xfrm>
            <a:off x="9844683" y="7294364"/>
            <a:ext cx="7528768" cy="619125"/>
          </a:xfrm>
          <a:prstGeom prst="roundRect">
            <a:avLst>
              <a:gd fmla="val 18462" name="adj"/>
            </a:avLst>
          </a:prstGeom>
          <a:solidFill>
            <a:srgbClr val="1A1640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10025658" y="7470577"/>
            <a:ext cx="266700" cy="266700"/>
          </a:xfrm>
          <a:prstGeom prst="ellipse">
            <a:avLst/>
          </a:prstGeom>
          <a:solidFill>
            <a:srgbClr val="FFD166">
              <a:alpha val="1607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10025658" y="7470577"/>
            <a:ext cx="342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200"/>
              <a:buFont typeface="Noto Sans JP"/>
              <a:buNone/>
            </a:pPr>
            <a:r>
              <a:rPr b="1" i="0" lang="en-US" sz="1200" u="none" cap="none" strike="noStrike">
                <a:solidFill>
                  <a:srgbClr val="FFD166"/>
                </a:solidFill>
                <a:latin typeface="Noto Sans JP"/>
                <a:ea typeface="Noto Sans JP"/>
                <a:cs typeface="Noto Sans JP"/>
                <a:sym typeface="Noto Sans JP"/>
              </a:rPr>
              <a:t>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10501908" y="7437239"/>
            <a:ext cx="576488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Noto Sans JP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Units Generation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16232237" y="7456289"/>
            <a:ext cx="103643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 units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B1E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7"/>
          <p:cNvSpPr/>
          <p:nvPr/>
        </p:nvSpPr>
        <p:spPr>
          <a:xfrm>
            <a:off x="914400" y="381000"/>
            <a:ext cx="747395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要件分析 — FUNCTIONAL REQUIREMENTS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914400" y="914400"/>
            <a:ext cx="16952976" cy="80605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5400"/>
              <a:buFont typeface="Noto Sans JP"/>
              <a:buNone/>
            </a:pPr>
            <a:r>
              <a:rPr b="1" i="0" lang="en-US" sz="54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機能要件 </a:t>
            </a:r>
            <a:r>
              <a:rPr b="1" i="0" lang="en-US" sz="5400" u="none" cap="none" strike="noStrike">
                <a:solidFill>
                  <a:srgbClr val="FF6B9D"/>
                </a:solidFill>
                <a:latin typeface="Noto Sans JP"/>
                <a:ea typeface="Noto Sans JP"/>
                <a:cs typeface="Noto Sans JP"/>
                <a:sym typeface="Noto Sans JP"/>
              </a:rPr>
              <a:t>FR-1〜7 </a:t>
            </a:r>
            <a:r>
              <a:rPr b="1" i="0" lang="en-US" sz="54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＋ 非機能要件 </a:t>
            </a:r>
            <a:r>
              <a:rPr b="1" i="0" lang="en-US" sz="5400" u="none" cap="none" strike="noStrike">
                <a:solidFill>
                  <a:srgbClr val="FFD166"/>
                </a:solidFill>
                <a:latin typeface="Noto Sans JP"/>
                <a:ea typeface="Noto Sans JP"/>
                <a:cs typeface="Noto Sans JP"/>
                <a:sym typeface="Noto Sans JP"/>
              </a:rPr>
              <a:t>NFR-1〜5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914400" y="2101453"/>
            <a:ext cx="9772948" cy="977205"/>
          </a:xfrm>
          <a:prstGeom prst="roundRect">
            <a:avLst>
              <a:gd fmla="val 11697" name="adj"/>
            </a:avLst>
          </a:prstGeom>
          <a:solidFill>
            <a:srgbClr val="1A1640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"/>
          <p:cNvSpPr/>
          <p:nvPr/>
        </p:nvSpPr>
        <p:spPr>
          <a:xfrm>
            <a:off x="1095375" y="2442418"/>
            <a:ext cx="933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FR-1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2124075" y="2244328"/>
            <a:ext cx="631045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Noto Sans JP"/>
              <a:buNone/>
            </a:pPr>
            <a:r>
              <a:rPr b="1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ユーザー認証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2124075" y="2615803"/>
            <a:ext cx="6310458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Noto Sans JP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Noto Sans JP"/>
                <a:ea typeface="Noto Sans JP"/>
                <a:cs typeface="Noto Sans JP"/>
                <a:sym typeface="Noto Sans JP"/>
              </a:rPr>
              <a:t>メール + Google / X ソーシャルログイン、プロフィール管理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8422184" y="2404318"/>
            <a:ext cx="1150739" cy="371475"/>
          </a:xfrm>
          <a:prstGeom prst="roundRect">
            <a:avLst>
              <a:gd fmla="val 15385" name="adj"/>
            </a:avLst>
          </a:prstGeom>
          <a:solidFill>
            <a:srgbClr val="B8B5CC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7"/>
          <p:cNvSpPr/>
          <p:nvPr/>
        </p:nvSpPr>
        <p:spPr>
          <a:xfrm>
            <a:off x="8517434" y="2442418"/>
            <a:ext cx="103643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Cognito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9630073" y="2404318"/>
            <a:ext cx="876300" cy="371475"/>
          </a:xfrm>
          <a:prstGeom prst="roundRect">
            <a:avLst>
              <a:gd fmla="val 15385" name="adj"/>
            </a:avLst>
          </a:prstGeom>
          <a:solidFill>
            <a:srgbClr val="B8B5CC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"/>
          <p:cNvSpPr/>
          <p:nvPr/>
        </p:nvSpPr>
        <p:spPr>
          <a:xfrm>
            <a:off x="9725323" y="2442418"/>
            <a:ext cx="7620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OAuth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914400" y="3154859"/>
            <a:ext cx="9772948" cy="1297186"/>
          </a:xfrm>
          <a:prstGeom prst="roundRect">
            <a:avLst>
              <a:gd fmla="val 8811" name="adj"/>
            </a:avLst>
          </a:prstGeom>
          <a:solidFill>
            <a:srgbClr val="1A1640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"/>
          <p:cNvSpPr/>
          <p:nvPr/>
        </p:nvSpPr>
        <p:spPr>
          <a:xfrm>
            <a:off x="1095375" y="3655814"/>
            <a:ext cx="933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FR-2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7"/>
          <p:cNvSpPr/>
          <p:nvPr/>
        </p:nvSpPr>
        <p:spPr>
          <a:xfrm>
            <a:off x="2124075" y="3297734"/>
            <a:ext cx="532156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Noto Sans JP"/>
              <a:buNone/>
            </a:pPr>
            <a:r>
              <a:rPr b="1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不健康行動の記録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2124075" y="3669209"/>
            <a:ext cx="5321565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Noto Sans JP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Noto Sans JP"/>
                <a:ea typeface="Noto Sans JP"/>
                <a:cs typeface="Noto Sans JP"/>
                <a:sym typeface="Noto Sans JP"/>
              </a:rPr>
              <a:t>カテゴリ選択式の3タップ手動入力 + 自動検出 + 履歴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7462093" y="3617714"/>
            <a:ext cx="1287810" cy="371475"/>
          </a:xfrm>
          <a:prstGeom prst="roundRect">
            <a:avLst>
              <a:gd fmla="val 15385" name="adj"/>
            </a:avLst>
          </a:prstGeom>
          <a:solidFill>
            <a:srgbClr val="B8B5CC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7557343" y="3655814"/>
            <a:ext cx="117351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3-tap UI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8807053" y="3617714"/>
            <a:ext cx="1699320" cy="371475"/>
          </a:xfrm>
          <a:prstGeom prst="roundRect">
            <a:avLst>
              <a:gd fmla="val 15385" name="adj"/>
            </a:avLst>
          </a:prstGeom>
          <a:solidFill>
            <a:srgbClr val="B8B5CC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7"/>
          <p:cNvSpPr/>
          <p:nvPr/>
        </p:nvSpPr>
        <p:spPr>
          <a:xfrm>
            <a:off x="8902303" y="3655814"/>
            <a:ext cx="158502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Auto-detect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7"/>
          <p:cNvSpPr/>
          <p:nvPr/>
        </p:nvSpPr>
        <p:spPr>
          <a:xfrm>
            <a:off x="914400" y="4528245"/>
            <a:ext cx="9772948" cy="977205"/>
          </a:xfrm>
          <a:prstGeom prst="roundRect">
            <a:avLst>
              <a:gd fmla="val 11697" name="adj"/>
            </a:avLst>
          </a:prstGeom>
          <a:solidFill>
            <a:srgbClr val="1A1640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7"/>
          <p:cNvSpPr/>
          <p:nvPr/>
        </p:nvSpPr>
        <p:spPr>
          <a:xfrm>
            <a:off x="1095375" y="4869210"/>
            <a:ext cx="933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FR-3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7"/>
          <p:cNvSpPr/>
          <p:nvPr/>
        </p:nvSpPr>
        <p:spPr>
          <a:xfrm>
            <a:off x="2124075" y="4671120"/>
            <a:ext cx="4756374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Noto Sans JP"/>
              <a:buNone/>
            </a:pPr>
            <a:r>
              <a:rPr b="1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ヘルスデータ連携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7"/>
          <p:cNvSpPr/>
          <p:nvPr/>
        </p:nvSpPr>
        <p:spPr>
          <a:xfrm>
            <a:off x="2124075" y="5042595"/>
            <a:ext cx="4756374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Noto Sans JP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Noto Sans JP"/>
                <a:ea typeface="Noto Sans JP"/>
                <a:cs typeface="Noto Sans JP"/>
                <a:sym typeface="Noto Sans JP"/>
              </a:rPr>
              <a:t>体重 / BMI / 歩数 / 睡眠を 1 日 1 回同期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7"/>
          <p:cNvSpPr/>
          <p:nvPr/>
        </p:nvSpPr>
        <p:spPr>
          <a:xfrm>
            <a:off x="6913364" y="4831110"/>
            <a:ext cx="1425029" cy="371475"/>
          </a:xfrm>
          <a:prstGeom prst="roundRect">
            <a:avLst>
              <a:gd fmla="val 15385" name="adj"/>
            </a:avLst>
          </a:prstGeom>
          <a:solidFill>
            <a:srgbClr val="B8B5CC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"/>
          <p:cNvSpPr/>
          <p:nvPr/>
        </p:nvSpPr>
        <p:spPr>
          <a:xfrm>
            <a:off x="7008614" y="4869210"/>
            <a:ext cx="131072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HealthKit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7"/>
          <p:cNvSpPr/>
          <p:nvPr/>
        </p:nvSpPr>
        <p:spPr>
          <a:xfrm>
            <a:off x="8395543" y="4831110"/>
            <a:ext cx="2110829" cy="371475"/>
          </a:xfrm>
          <a:prstGeom prst="roundRect">
            <a:avLst>
              <a:gd fmla="val 15385" name="adj"/>
            </a:avLst>
          </a:prstGeom>
          <a:solidFill>
            <a:srgbClr val="B8B5CC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7"/>
          <p:cNvSpPr/>
          <p:nvPr/>
        </p:nvSpPr>
        <p:spPr>
          <a:xfrm>
            <a:off x="8490793" y="4869210"/>
            <a:ext cx="199652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Health Connect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7"/>
          <p:cNvSpPr/>
          <p:nvPr/>
        </p:nvSpPr>
        <p:spPr>
          <a:xfrm>
            <a:off x="914400" y="5581650"/>
            <a:ext cx="9772948" cy="977205"/>
          </a:xfrm>
          <a:prstGeom prst="roundRect">
            <a:avLst>
              <a:gd fmla="val 11697" name="adj"/>
            </a:avLst>
          </a:prstGeom>
          <a:solidFill>
            <a:srgbClr val="1A1640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"/>
          <p:cNvSpPr/>
          <p:nvPr/>
        </p:nvSpPr>
        <p:spPr>
          <a:xfrm>
            <a:off x="1095375" y="5922615"/>
            <a:ext cx="933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FR-4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2124075" y="5724525"/>
            <a:ext cx="631045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Noto Sans JP"/>
              <a:buNone/>
            </a:pPr>
            <a:r>
              <a:rPr b="1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ぶたアバター育成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2124075" y="6096000"/>
            <a:ext cx="6310458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Noto Sans JP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Noto Sans JP"/>
                <a:ea typeface="Noto Sans JP"/>
                <a:cs typeface="Noto Sans JP"/>
                <a:sym typeface="Noto Sans JP"/>
              </a:rPr>
              <a:t>進化分岐 + AI 生成画像 / 短動画 + ステータス + スキル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7"/>
          <p:cNvSpPr/>
          <p:nvPr/>
        </p:nvSpPr>
        <p:spPr>
          <a:xfrm>
            <a:off x="8422184" y="5884515"/>
            <a:ext cx="922139" cy="371475"/>
          </a:xfrm>
          <a:prstGeom prst="roundRect">
            <a:avLst>
              <a:gd fmla="val 15385" name="adj"/>
            </a:avLst>
          </a:prstGeom>
          <a:solidFill>
            <a:srgbClr val="B8B5CC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8517434" y="5922615"/>
            <a:ext cx="80783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AI画像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9401473" y="5884515"/>
            <a:ext cx="1104900" cy="371475"/>
          </a:xfrm>
          <a:prstGeom prst="roundRect">
            <a:avLst>
              <a:gd fmla="val 15385" name="adj"/>
            </a:avLst>
          </a:prstGeom>
          <a:solidFill>
            <a:srgbClr val="B8B5CC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"/>
          <p:cNvSpPr/>
          <p:nvPr/>
        </p:nvSpPr>
        <p:spPr>
          <a:xfrm>
            <a:off x="9496723" y="5922615"/>
            <a:ext cx="9906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進化分岐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>
            <a:off x="914400" y="6635055"/>
            <a:ext cx="9772948" cy="1297186"/>
          </a:xfrm>
          <a:prstGeom prst="roundRect">
            <a:avLst>
              <a:gd fmla="val 8811" name="adj"/>
            </a:avLst>
          </a:prstGeom>
          <a:solidFill>
            <a:srgbClr val="1A1640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7"/>
          <p:cNvSpPr/>
          <p:nvPr/>
        </p:nvSpPr>
        <p:spPr>
          <a:xfrm>
            <a:off x="1095375" y="7136011"/>
            <a:ext cx="933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FR-5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2124075" y="6777930"/>
            <a:ext cx="602793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Noto Sans JP"/>
              <a:buNone/>
            </a:pPr>
            <a:r>
              <a:rPr b="1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リアルタイムバトル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2124075" y="7149405"/>
            <a:ext cx="6027939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Noto Sans JP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Noto Sans JP"/>
                <a:ea typeface="Noto Sans JP"/>
                <a:cs typeface="Noto Sans JP"/>
                <a:sym typeface="Noto Sans JP"/>
              </a:rPr>
              <a:t>WebSocket 双方向通信、マッチメイキング、ステータス + スキル制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/>
          <p:nvPr/>
        </p:nvSpPr>
        <p:spPr>
          <a:xfrm>
            <a:off x="8147893" y="7097911"/>
            <a:ext cx="1425029" cy="371475"/>
          </a:xfrm>
          <a:prstGeom prst="roundRect">
            <a:avLst>
              <a:gd fmla="val 15385" name="adj"/>
            </a:avLst>
          </a:prstGeom>
          <a:solidFill>
            <a:srgbClr val="B8B5CC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7"/>
          <p:cNvSpPr/>
          <p:nvPr/>
        </p:nvSpPr>
        <p:spPr>
          <a:xfrm>
            <a:off x="8243143" y="7136011"/>
            <a:ext cx="131072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WebSocket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9630073" y="7097911"/>
            <a:ext cx="876300" cy="371475"/>
          </a:xfrm>
          <a:prstGeom prst="roundRect">
            <a:avLst>
              <a:gd fmla="val 15385" name="adj"/>
            </a:avLst>
          </a:prstGeom>
          <a:solidFill>
            <a:srgbClr val="B8B5CC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7"/>
          <p:cNvSpPr/>
          <p:nvPr/>
        </p:nvSpPr>
        <p:spPr>
          <a:xfrm>
            <a:off x="9725323" y="7136011"/>
            <a:ext cx="7620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200ms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914400" y="8008441"/>
            <a:ext cx="9772948" cy="977205"/>
          </a:xfrm>
          <a:prstGeom prst="roundRect">
            <a:avLst>
              <a:gd fmla="val 11697" name="adj"/>
            </a:avLst>
          </a:prstGeom>
          <a:solidFill>
            <a:srgbClr val="1A1640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"/>
          <p:cNvSpPr/>
          <p:nvPr/>
        </p:nvSpPr>
        <p:spPr>
          <a:xfrm>
            <a:off x="1095375" y="8349407"/>
            <a:ext cx="933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FR-6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2124075" y="8151316"/>
            <a:ext cx="750737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Noto Sans JP"/>
              <a:buNone/>
            </a:pPr>
            <a:r>
              <a:rPr b="1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ソーシャル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2124075" y="8522791"/>
            <a:ext cx="7507370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Noto Sans JP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Noto Sans JP"/>
                <a:ea typeface="Noto Sans JP"/>
                <a:cs typeface="Noto Sans JP"/>
                <a:sym typeface="Noto Sans JP"/>
              </a:rPr>
              <a:t>フレンド検索 / 申請 / 承認、対戦相手追加、SNS 共有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7"/>
          <p:cNvSpPr/>
          <p:nvPr/>
        </p:nvSpPr>
        <p:spPr>
          <a:xfrm>
            <a:off x="9584234" y="8311307"/>
            <a:ext cx="922139" cy="371475"/>
          </a:xfrm>
          <a:prstGeom prst="roundRect">
            <a:avLst>
              <a:gd fmla="val 15385" name="adj"/>
            </a:avLst>
          </a:prstGeom>
          <a:solidFill>
            <a:srgbClr val="B8B5CC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9679484" y="8349407"/>
            <a:ext cx="80783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OS共有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914400" y="9061847"/>
            <a:ext cx="9772948" cy="977205"/>
          </a:xfrm>
          <a:prstGeom prst="roundRect">
            <a:avLst>
              <a:gd fmla="val 11697" name="adj"/>
            </a:avLst>
          </a:prstGeom>
          <a:solidFill>
            <a:srgbClr val="1A1640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1095375" y="9402812"/>
            <a:ext cx="933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FR-7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7"/>
          <p:cNvSpPr/>
          <p:nvPr/>
        </p:nvSpPr>
        <p:spPr>
          <a:xfrm>
            <a:off x="2124075" y="9204722"/>
            <a:ext cx="6451794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Noto Sans JP"/>
              <a:buNone/>
            </a:pPr>
            <a:r>
              <a:rPr b="1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管理画面 (Web)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2124075" y="9576197"/>
            <a:ext cx="6451794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Noto Sans JP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Noto Sans JP"/>
                <a:ea typeface="Noto Sans JP"/>
                <a:cs typeface="Noto Sans JP"/>
                <a:sym typeface="Noto Sans JP"/>
              </a:rPr>
              <a:t>React 製。ユーザー / ゲームデータ / マスターデータ管理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8559403" y="9364712"/>
            <a:ext cx="876300" cy="371475"/>
          </a:xfrm>
          <a:prstGeom prst="roundRect">
            <a:avLst>
              <a:gd fmla="val 15385" name="adj"/>
            </a:avLst>
          </a:prstGeom>
          <a:solidFill>
            <a:srgbClr val="B8B5CC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8654653" y="9402812"/>
            <a:ext cx="7620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React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9492853" y="9364712"/>
            <a:ext cx="1013520" cy="371475"/>
          </a:xfrm>
          <a:prstGeom prst="roundRect">
            <a:avLst>
              <a:gd fmla="val 15385" name="adj"/>
            </a:avLst>
          </a:prstGeom>
          <a:solidFill>
            <a:srgbClr val="B8B5CC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9588103" y="9402812"/>
            <a:ext cx="89922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/admin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11068348" y="2101453"/>
            <a:ext cx="649441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MVP スコープ確定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11068348" y="2530078"/>
            <a:ext cx="6305252" cy="1800225"/>
          </a:xfrm>
          <a:prstGeom prst="roundRect">
            <a:avLst>
              <a:gd fmla="val 6349" name="adj"/>
            </a:avLst>
          </a:prstGeom>
          <a:solidFill>
            <a:srgbClr val="FFD166">
              <a:alpha val="18039"/>
            </a:srgbClr>
          </a:solidFill>
          <a:ln cap="flat" cmpd="sng" w="9525">
            <a:solidFill>
              <a:srgbClr val="FFD16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11287423" y="2711053"/>
            <a:ext cx="604311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FFD1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FR-1〜7 を MVP 内</a:t>
            </a:r>
            <a:endParaRPr sz="1800">
              <a:solidFill>
                <a:srgbClr val="FFD166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FFD1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課金・ランキング・多言語は将来対応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11287423" y="3396853"/>
            <a:ext cx="762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3600"/>
              <a:buFont typeface="Outfit"/>
              <a:buNone/>
            </a:pPr>
            <a:r>
              <a:rPr b="1" i="0" lang="en-US" sz="3600" u="none" cap="none" strike="noStrike">
                <a:solidFill>
                  <a:srgbClr val="FFFAFF"/>
                </a:solidFill>
                <a:latin typeface="Outfit"/>
                <a:ea typeface="Outfit"/>
                <a:cs typeface="Outfit"/>
                <a:sym typeface="Outfit"/>
              </a:rPr>
              <a:t>7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11287423" y="3854053"/>
            <a:ext cx="7620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対象内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12239923" y="3396853"/>
            <a:ext cx="9906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3600"/>
              <a:buFont typeface="Outfit"/>
              <a:buNone/>
            </a:pPr>
            <a:r>
              <a:rPr b="1" i="0" lang="en-US" sz="3600" u="none" cap="none" strike="noStrike">
                <a:solidFill>
                  <a:srgbClr val="FFFAFF"/>
                </a:solidFill>
                <a:latin typeface="Outfit"/>
                <a:ea typeface="Outfit"/>
                <a:cs typeface="Outfit"/>
                <a:sym typeface="Outfit"/>
              </a:rPr>
              <a:t>4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12239923" y="3854053"/>
            <a:ext cx="99060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将来対応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11068348" y="4501753"/>
            <a:ext cx="649441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非機能要件 NFR-1〜5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11068348" y="4930378"/>
            <a:ext cx="6305252" cy="567630"/>
          </a:xfrm>
          <a:prstGeom prst="roundRect">
            <a:avLst>
              <a:gd fmla="val 16780" name="adj"/>
            </a:avLst>
          </a:prstGeom>
          <a:solidFill>
            <a:srgbClr val="1A1640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11230273" y="5066556"/>
            <a:ext cx="8953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NFR-1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12182773" y="5054203"/>
            <a:ext cx="5179769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Noto Sans JP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API 500ms ／ バトル 200ms ／ 起動 3s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11068348" y="5574209"/>
            <a:ext cx="6305252" cy="567630"/>
          </a:xfrm>
          <a:prstGeom prst="roundRect">
            <a:avLst>
              <a:gd fmla="val 16780" name="adj"/>
            </a:avLst>
          </a:prstGeom>
          <a:solidFill>
            <a:srgbClr val="1A1640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11230273" y="5710386"/>
            <a:ext cx="8953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NFR-2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12182773" y="5698034"/>
            <a:ext cx="5179769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Noto Sans JP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サーバーレス自動スケール ／ 〜100人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11068348" y="6218039"/>
            <a:ext cx="6305252" cy="567630"/>
          </a:xfrm>
          <a:prstGeom prst="roundRect">
            <a:avLst>
              <a:gd fmla="val 16780" name="adj"/>
            </a:avLst>
          </a:prstGeom>
          <a:solidFill>
            <a:srgbClr val="1A1640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7"/>
          <p:cNvSpPr/>
          <p:nvPr/>
        </p:nvSpPr>
        <p:spPr>
          <a:xfrm>
            <a:off x="11230273" y="6354217"/>
            <a:ext cx="8953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NFR-3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12182773" y="6341864"/>
            <a:ext cx="5179769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Noto Sans JP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基本可用性 (デモ向け)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11068348" y="6861870"/>
            <a:ext cx="6305252" cy="567630"/>
          </a:xfrm>
          <a:prstGeom prst="roundRect">
            <a:avLst>
              <a:gd fmla="val 16780" name="adj"/>
            </a:avLst>
          </a:prstGeom>
          <a:solidFill>
            <a:srgbClr val="1A1640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11230273" y="6998047"/>
            <a:ext cx="8953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NFR-4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12182773" y="6985695"/>
            <a:ext cx="5179769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Noto Sans JP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3 タップ以内 ／ 日本語 UI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11068348" y="7505700"/>
            <a:ext cx="6305252" cy="567630"/>
          </a:xfrm>
          <a:prstGeom prst="roundRect">
            <a:avLst>
              <a:gd fmla="val 16780" name="adj"/>
            </a:avLst>
          </a:prstGeom>
          <a:solidFill>
            <a:srgbClr val="1A1640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11230273" y="7641878"/>
            <a:ext cx="8953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NFR-5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12182773" y="7629525"/>
            <a:ext cx="5179769" cy="3580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Noto Sans JP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ヘルスデータ同意 + 暗号化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B1E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8"/>
          <p:cNvSpPr/>
          <p:nvPr/>
        </p:nvSpPr>
        <p:spPr>
          <a:xfrm>
            <a:off x="914400" y="381000"/>
            <a:ext cx="639231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ユーザーストーリー  57 STORIES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914400" y="914400"/>
            <a:ext cx="16952976" cy="80605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5400"/>
              <a:buFont typeface="Noto Sans JP"/>
              <a:buNone/>
            </a:pPr>
            <a:r>
              <a:rPr b="1" i="0" lang="en-US" sz="54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FR ごとに </a:t>
            </a:r>
            <a:r>
              <a:rPr b="1" i="0" lang="en-US" sz="5400" u="none" cap="none" strike="noStrike">
                <a:solidFill>
                  <a:srgbClr val="FF6B9D"/>
                </a:solidFill>
                <a:latin typeface="Noto Sans JP"/>
                <a:ea typeface="Noto Sans JP"/>
                <a:cs typeface="Noto Sans JP"/>
                <a:sym typeface="Noto Sans JP"/>
              </a:rPr>
              <a:t>追跡可能 </a:t>
            </a:r>
            <a:r>
              <a:rPr b="1" i="0" lang="en-US" sz="54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な単位でストーリー化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914400" y="2139553"/>
            <a:ext cx="662409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 別ストーリー数 ／ 2 ペルソナ × 7 機能領域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914400" y="2587228"/>
            <a:ext cx="6431161" cy="581025"/>
          </a:xfrm>
          <a:prstGeom prst="roundRect">
            <a:avLst>
              <a:gd fmla="val 16393" name="adj"/>
            </a:avLst>
          </a:prstGeom>
          <a:solidFill>
            <a:srgbClr val="1A1640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8"/>
          <p:cNvSpPr/>
          <p:nvPr/>
        </p:nvSpPr>
        <p:spPr>
          <a:xfrm>
            <a:off x="1076325" y="2730103"/>
            <a:ext cx="933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FR-1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2047875" y="2711053"/>
            <a:ext cx="6477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2100"/>
              <a:buFont typeface="Outfit"/>
              <a:buNone/>
            </a:pPr>
            <a:r>
              <a:rPr b="1" i="0" lang="en-US" sz="2100" u="none" cap="none" strike="noStrike">
                <a:solidFill>
                  <a:srgbClr val="FFD166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2809875" y="2711053"/>
            <a:ext cx="4504974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Noto Sans JP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ユーザー認証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914400" y="3244453"/>
            <a:ext cx="6431161" cy="581025"/>
          </a:xfrm>
          <a:prstGeom prst="roundRect">
            <a:avLst>
              <a:gd fmla="val 16393" name="adj"/>
            </a:avLst>
          </a:prstGeom>
          <a:solidFill>
            <a:srgbClr val="1A1640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8"/>
          <p:cNvSpPr/>
          <p:nvPr/>
        </p:nvSpPr>
        <p:spPr>
          <a:xfrm>
            <a:off x="1076325" y="3387328"/>
            <a:ext cx="933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FR-2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2047875" y="3368278"/>
            <a:ext cx="6477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2100"/>
              <a:buFont typeface="Outfit"/>
              <a:buNone/>
            </a:pPr>
            <a:r>
              <a:rPr b="1" i="0" lang="en-US" sz="2100" u="none" cap="none" strike="noStrike">
                <a:solidFill>
                  <a:srgbClr val="FFD166"/>
                </a:solidFill>
                <a:latin typeface="Outfit"/>
                <a:ea typeface="Outfit"/>
                <a:cs typeface="Outfit"/>
                <a:sym typeface="Outfit"/>
              </a:rPr>
              <a:t>5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8"/>
          <p:cNvSpPr/>
          <p:nvPr/>
        </p:nvSpPr>
        <p:spPr>
          <a:xfrm>
            <a:off x="2809875" y="3368278"/>
            <a:ext cx="4504974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Noto Sans JP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不健康行動の記録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914400" y="3901678"/>
            <a:ext cx="6431161" cy="581025"/>
          </a:xfrm>
          <a:prstGeom prst="roundRect">
            <a:avLst>
              <a:gd fmla="val 16393" name="adj"/>
            </a:avLst>
          </a:prstGeom>
          <a:solidFill>
            <a:srgbClr val="1A1640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8"/>
          <p:cNvSpPr/>
          <p:nvPr/>
        </p:nvSpPr>
        <p:spPr>
          <a:xfrm>
            <a:off x="1076325" y="4044553"/>
            <a:ext cx="933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FR-3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8"/>
          <p:cNvSpPr/>
          <p:nvPr/>
        </p:nvSpPr>
        <p:spPr>
          <a:xfrm>
            <a:off x="2047875" y="4025503"/>
            <a:ext cx="6477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2100"/>
              <a:buFont typeface="Outfit"/>
              <a:buNone/>
            </a:pPr>
            <a:r>
              <a:rPr b="1" i="0" lang="en-US" sz="2100" u="none" cap="none" strike="noStrike">
                <a:solidFill>
                  <a:srgbClr val="FFD166"/>
                </a:solidFill>
                <a:latin typeface="Outfit"/>
                <a:ea typeface="Outfit"/>
                <a:cs typeface="Outfit"/>
                <a:sym typeface="Outfit"/>
              </a:rPr>
              <a:t>11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2809875" y="4025503"/>
            <a:ext cx="4504974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Noto Sans JP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ヘルスデータ連携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914400" y="4558903"/>
            <a:ext cx="6431161" cy="581025"/>
          </a:xfrm>
          <a:prstGeom prst="roundRect">
            <a:avLst>
              <a:gd fmla="val 16393" name="adj"/>
            </a:avLst>
          </a:prstGeom>
          <a:solidFill>
            <a:srgbClr val="1A1640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1076325" y="4701778"/>
            <a:ext cx="933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FR-4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8"/>
          <p:cNvSpPr/>
          <p:nvPr/>
        </p:nvSpPr>
        <p:spPr>
          <a:xfrm>
            <a:off x="2047875" y="4682728"/>
            <a:ext cx="6477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2100"/>
              <a:buFont typeface="Outfit"/>
              <a:buNone/>
            </a:pPr>
            <a:r>
              <a:rPr b="1" i="0" lang="en-US" sz="2100" u="none" cap="none" strike="noStrike">
                <a:solidFill>
                  <a:srgbClr val="FFD166"/>
                </a:solidFill>
                <a:latin typeface="Outfit"/>
                <a:ea typeface="Outfit"/>
                <a:cs typeface="Outfit"/>
                <a:sym typeface="Outfit"/>
              </a:rPr>
              <a:t>8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2809875" y="4682728"/>
            <a:ext cx="4504974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Noto Sans JP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アバター育成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914400" y="5216128"/>
            <a:ext cx="6431161" cy="581025"/>
          </a:xfrm>
          <a:prstGeom prst="roundRect">
            <a:avLst>
              <a:gd fmla="val 16393" name="adj"/>
            </a:avLst>
          </a:prstGeom>
          <a:solidFill>
            <a:srgbClr val="1A1640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8"/>
          <p:cNvSpPr/>
          <p:nvPr/>
        </p:nvSpPr>
        <p:spPr>
          <a:xfrm>
            <a:off x="1076325" y="5359003"/>
            <a:ext cx="933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FR-5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8"/>
          <p:cNvSpPr/>
          <p:nvPr/>
        </p:nvSpPr>
        <p:spPr>
          <a:xfrm>
            <a:off x="2047875" y="5339953"/>
            <a:ext cx="6477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2100"/>
              <a:buFont typeface="Outfit"/>
              <a:buNone/>
            </a:pPr>
            <a:r>
              <a:rPr b="1" i="0" lang="en-US" sz="2100" u="none" cap="none" strike="noStrike">
                <a:solidFill>
                  <a:srgbClr val="FFD166"/>
                </a:solidFill>
                <a:latin typeface="Outfit"/>
                <a:ea typeface="Outfit"/>
                <a:cs typeface="Outfit"/>
                <a:sym typeface="Outfit"/>
              </a:rPr>
              <a:t>10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2809875" y="5339953"/>
            <a:ext cx="4504974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Noto Sans JP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バトル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914400" y="5873353"/>
            <a:ext cx="6431161" cy="581025"/>
          </a:xfrm>
          <a:prstGeom prst="roundRect">
            <a:avLst>
              <a:gd fmla="val 16393" name="adj"/>
            </a:avLst>
          </a:prstGeom>
          <a:solidFill>
            <a:srgbClr val="1A1640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8"/>
          <p:cNvSpPr/>
          <p:nvPr/>
        </p:nvSpPr>
        <p:spPr>
          <a:xfrm>
            <a:off x="1076325" y="6016228"/>
            <a:ext cx="933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FR-6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2047875" y="5997178"/>
            <a:ext cx="6477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2100"/>
              <a:buFont typeface="Outfit"/>
              <a:buNone/>
            </a:pPr>
            <a:r>
              <a:rPr b="1" i="0" lang="en-US" sz="2100" u="none" cap="none" strike="noStrike">
                <a:solidFill>
                  <a:srgbClr val="FFD166"/>
                </a:solidFill>
                <a:latin typeface="Outfit"/>
                <a:ea typeface="Outfit"/>
                <a:cs typeface="Outfit"/>
                <a:sym typeface="Outfit"/>
              </a:rPr>
              <a:t>6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2809875" y="5997178"/>
            <a:ext cx="4504974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Noto Sans JP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ソーシャル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8"/>
          <p:cNvSpPr/>
          <p:nvPr/>
        </p:nvSpPr>
        <p:spPr>
          <a:xfrm>
            <a:off x="914400" y="6530578"/>
            <a:ext cx="6431161" cy="581025"/>
          </a:xfrm>
          <a:prstGeom prst="roundRect">
            <a:avLst>
              <a:gd fmla="val 16393" name="adj"/>
            </a:avLst>
          </a:prstGeom>
          <a:solidFill>
            <a:srgbClr val="1A1640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8"/>
          <p:cNvSpPr/>
          <p:nvPr/>
        </p:nvSpPr>
        <p:spPr>
          <a:xfrm>
            <a:off x="1076325" y="6673453"/>
            <a:ext cx="933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FR-7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2047875" y="6654403"/>
            <a:ext cx="6477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2100"/>
              <a:buFont typeface="Outfit"/>
              <a:buNone/>
            </a:pPr>
            <a:r>
              <a:rPr b="1" i="0" lang="en-US" sz="2100" u="none" cap="none" strike="noStrike">
                <a:solidFill>
                  <a:srgbClr val="FFD166"/>
                </a:solidFill>
                <a:latin typeface="Outfit"/>
                <a:ea typeface="Outfit"/>
                <a:cs typeface="Outfit"/>
                <a:sym typeface="Outfit"/>
              </a:rPr>
              <a:t>11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8"/>
          <p:cNvSpPr/>
          <p:nvPr/>
        </p:nvSpPr>
        <p:spPr>
          <a:xfrm>
            <a:off x="2809875" y="6654403"/>
            <a:ext cx="4504974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Noto Sans JP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管理画面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914400" y="7321153"/>
            <a:ext cx="6431161" cy="666750"/>
          </a:xfrm>
          <a:prstGeom prst="roundRect">
            <a:avLst>
              <a:gd fmla="val 17143" name="adj"/>
            </a:avLst>
          </a:prstGeom>
          <a:solidFill>
            <a:srgbClr val="FFD166">
              <a:alpha val="18039"/>
            </a:srgbClr>
          </a:solidFill>
          <a:ln cap="flat" cmpd="sng" w="9525">
            <a:solidFill>
              <a:srgbClr val="FFD166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8"/>
          <p:cNvSpPr/>
          <p:nvPr/>
        </p:nvSpPr>
        <p:spPr>
          <a:xfrm>
            <a:off x="1114425" y="7506891"/>
            <a:ext cx="93345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FFD1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TOTAL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2085975" y="7422280"/>
            <a:ext cx="6477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2700"/>
              <a:buFont typeface="Outfit"/>
              <a:buNone/>
            </a:pPr>
            <a:r>
              <a:rPr b="1" i="0" lang="en-US" sz="2700" u="none" cap="none" strike="noStrike">
                <a:solidFill>
                  <a:srgbClr val="FFFAFF"/>
                </a:solidFill>
                <a:latin typeface="Outfit"/>
                <a:ea typeface="Outfit"/>
                <a:cs typeface="Outfit"/>
                <a:sym typeface="Outfit"/>
              </a:rPr>
              <a:t>57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2847975" y="7487841"/>
            <a:ext cx="4426488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Noto Sans JP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全ストーリー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7726550" y="2139551"/>
            <a:ext cx="9647100" cy="5848200"/>
          </a:xfrm>
          <a:prstGeom prst="roundRect">
            <a:avLst>
              <a:gd fmla="val 2370" name="adj"/>
            </a:avLst>
          </a:prstGeom>
          <a:solidFill>
            <a:srgbClr val="1A1640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8"/>
          <p:cNvSpPr/>
          <p:nvPr/>
        </p:nvSpPr>
        <p:spPr>
          <a:xfrm>
            <a:off x="8117086" y="3025378"/>
            <a:ext cx="8865989" cy="9525"/>
          </a:xfrm>
          <a:prstGeom prst="rect">
            <a:avLst/>
          </a:prstGeom>
          <a:solidFill>
            <a:srgbClr val="3A2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8"/>
          <p:cNvSpPr/>
          <p:nvPr/>
        </p:nvSpPr>
        <p:spPr>
          <a:xfrm>
            <a:off x="8117086" y="2568178"/>
            <a:ext cx="270776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SAMPLE </a:t>
            </a:r>
            <a:r>
              <a:rPr lang="en-US" sz="1800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(</a:t>
            </a:r>
            <a:r>
              <a:rPr b="0" i="0" lang="en-US" sz="1800" u="none" cap="none" strike="noStrike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US-2.1)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10917423" y="2491975"/>
            <a:ext cx="5106300" cy="4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2100"/>
              <a:buFont typeface="Noto Sans JP"/>
              <a:buNone/>
            </a:pPr>
            <a:r>
              <a:rPr b="1" i="0" lang="en-US" sz="21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カテゴリ選択による行動の手動記録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8117086" y="3225403"/>
            <a:ext cx="9131969" cy="4228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 </a:t>
            </a:r>
            <a:r>
              <a:rPr b="0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タケシ (一般プレイヤー)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8117086" y="3705374"/>
            <a:ext cx="9131969" cy="4228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 WANT </a:t>
            </a:r>
            <a:r>
              <a:rPr b="0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深夜ラーメンや運動サボりをカテゴリから選んで 3 タップで記録したい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8117086" y="4185345"/>
            <a:ext cx="9131969" cy="4228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SO THAT </a:t>
            </a:r>
            <a:r>
              <a:rPr b="0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罪悪感なくダメな行動を残し、豚が成長する瞬間を見たい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8117086" y="4760565"/>
            <a:ext cx="8865989" cy="9525"/>
          </a:xfrm>
          <a:prstGeom prst="rect">
            <a:avLst/>
          </a:prstGeom>
          <a:solidFill>
            <a:srgbClr val="3A2D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8"/>
          <p:cNvSpPr/>
          <p:nvPr/>
        </p:nvSpPr>
        <p:spPr>
          <a:xfrm>
            <a:off x="8117086" y="4960590"/>
            <a:ext cx="913196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FFD1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ACCEPTANCE CRITERIA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7957066" y="5351115"/>
            <a:ext cx="9102209" cy="15924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Noto Sans JP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ホームから 1 タップで記録モーダルが開く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Noto Sans JP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カテゴリは 8 種以上から 1 タップで選択可能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Noto Sans JP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記録完了で不健康ポイントが即時加算される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Noto Sans JP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履歴画面に 1 秒以内に反映される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B1E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9"/>
          <p:cNvSpPr/>
          <p:nvPr/>
        </p:nvSpPr>
        <p:spPr>
          <a:xfrm>
            <a:off x="914400" y="381000"/>
            <a:ext cx="4106872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アプリケーション設計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914400" y="914400"/>
            <a:ext cx="16952976" cy="80605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5400"/>
              <a:buFont typeface="Noto Sans JP"/>
              <a:buNone/>
            </a:pPr>
            <a:r>
              <a:rPr b="1" i="0" lang="en-US" sz="54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Flutter × </a:t>
            </a:r>
            <a:r>
              <a:rPr b="1" i="0" lang="en-US" sz="5400" u="none" cap="none" strike="noStrike">
                <a:solidFill>
                  <a:srgbClr val="FF6B9D"/>
                </a:solidFill>
                <a:latin typeface="Noto Sans JP"/>
                <a:ea typeface="Noto Sans JP"/>
                <a:cs typeface="Noto Sans JP"/>
                <a:sym typeface="Noto Sans JP"/>
              </a:rPr>
              <a:t>AWS サーバーレス </a:t>
            </a:r>
            <a:r>
              <a:rPr b="1" i="0" lang="en-US" sz="54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× Table per Entity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 rot="10800000">
            <a:off x="545957" y="2102796"/>
            <a:ext cx="1199100" cy="1885800"/>
          </a:xfrm>
          <a:prstGeom prst="roundRect">
            <a:avLst>
              <a:gd fmla="val 13333" name="adj"/>
            </a:avLst>
          </a:prstGeom>
          <a:solidFill>
            <a:srgbClr val="1A1640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95" name="Google Shape;295;p9"/>
          <p:cNvSpPr/>
          <p:nvPr/>
        </p:nvSpPr>
        <p:spPr>
          <a:xfrm>
            <a:off x="559224" y="2112175"/>
            <a:ext cx="12792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CLIENT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9"/>
          <p:cNvSpPr/>
          <p:nvPr/>
        </p:nvSpPr>
        <p:spPr>
          <a:xfrm rot="10800000">
            <a:off x="545957" y="4124472"/>
            <a:ext cx="1199100" cy="1885800"/>
          </a:xfrm>
          <a:prstGeom prst="roundRect">
            <a:avLst>
              <a:gd fmla="val 13333" name="adj"/>
            </a:avLst>
          </a:prstGeom>
          <a:solidFill>
            <a:srgbClr val="1A1640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97" name="Google Shape;297;p9"/>
          <p:cNvSpPr/>
          <p:nvPr/>
        </p:nvSpPr>
        <p:spPr>
          <a:xfrm>
            <a:off x="559224" y="4133851"/>
            <a:ext cx="12792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EDGE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 rot="10800000">
            <a:off x="545957" y="6146149"/>
            <a:ext cx="1199100" cy="1885800"/>
          </a:xfrm>
          <a:prstGeom prst="roundRect">
            <a:avLst>
              <a:gd fmla="val 13333" name="adj"/>
            </a:avLst>
          </a:prstGeom>
          <a:solidFill>
            <a:srgbClr val="1A1640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299" name="Google Shape;299;p9"/>
          <p:cNvSpPr/>
          <p:nvPr/>
        </p:nvSpPr>
        <p:spPr>
          <a:xfrm>
            <a:off x="559224" y="6155528"/>
            <a:ext cx="12792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COMPUTE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9"/>
          <p:cNvSpPr/>
          <p:nvPr/>
        </p:nvSpPr>
        <p:spPr>
          <a:xfrm rot="10800000">
            <a:off x="545957" y="8167825"/>
            <a:ext cx="1199100" cy="1885800"/>
          </a:xfrm>
          <a:prstGeom prst="roundRect">
            <a:avLst>
              <a:gd fmla="val 13333" name="adj"/>
            </a:avLst>
          </a:prstGeom>
          <a:solidFill>
            <a:srgbClr val="1A1640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301" name="Google Shape;301;p9"/>
          <p:cNvSpPr/>
          <p:nvPr/>
        </p:nvSpPr>
        <p:spPr>
          <a:xfrm>
            <a:off x="559224" y="8177204"/>
            <a:ext cx="1279200" cy="19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800"/>
              <a:buFont typeface="JetBrains Mono"/>
              <a:buNone/>
            </a:pPr>
            <a:r>
              <a:rPr b="1" i="0" lang="en-US" sz="1800" u="none" cap="none" strike="noStrike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DATA</a:t>
            </a:r>
            <a:endParaRPr b="1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2038350" y="2101450"/>
            <a:ext cx="11725200" cy="1962300"/>
          </a:xfrm>
          <a:prstGeom prst="roundRect">
            <a:avLst>
              <a:gd fmla="val 6796" name="adj"/>
            </a:avLst>
          </a:prstGeom>
          <a:solidFill>
            <a:srgbClr val="1A1640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9"/>
          <p:cNvSpPr/>
          <p:nvPr/>
        </p:nvSpPr>
        <p:spPr>
          <a:xfrm>
            <a:off x="2245476" y="2282425"/>
            <a:ext cx="116502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2257425" y="2672950"/>
            <a:ext cx="5610300" cy="1209600"/>
          </a:xfrm>
          <a:prstGeom prst="roundRect">
            <a:avLst>
              <a:gd fmla="val 7874" name="adj"/>
            </a:avLst>
          </a:prstGeom>
          <a:solidFill>
            <a:srgbClr val="FF6B9D">
              <a:alpha val="18039"/>
            </a:srgbClr>
          </a:solidFill>
          <a:ln cap="flat" cmpd="sng" w="9525">
            <a:solidFill>
              <a:srgbClr val="FF6B9D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9"/>
          <p:cNvSpPr/>
          <p:nvPr/>
        </p:nvSpPr>
        <p:spPr>
          <a:xfrm>
            <a:off x="2438400" y="2796778"/>
            <a:ext cx="573928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Noto Sans JP"/>
              <a:buNone/>
            </a:pPr>
            <a:r>
              <a:rPr b="1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Flutter App ／ iOS ・ Android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2438400" y="3168253"/>
            <a:ext cx="5739289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FE-AUTH ／ RECORDING ／ HEALTH</a:t>
            </a:r>
            <a:endParaRPr sz="1800">
              <a:solidFill>
                <a:srgbClr val="B8B5CC"/>
              </a:solidFill>
              <a:latin typeface="JetBrains Mono"/>
              <a:ea typeface="JetBrains Mono"/>
              <a:cs typeface="JetBrains Mono"/>
              <a:sym typeface="JetBrains Mono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／ AVATAR ／ BATTLE ／ SOCIAL ／ SHARED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7945952" y="2672950"/>
            <a:ext cx="5610300" cy="1209600"/>
          </a:xfrm>
          <a:prstGeom prst="roundRect">
            <a:avLst>
              <a:gd fmla="val 7874" name="adj"/>
            </a:avLst>
          </a:prstGeom>
          <a:solidFill>
            <a:srgbClr val="FFD166">
              <a:alpha val="16078"/>
            </a:srgbClr>
          </a:solidFill>
          <a:ln cap="flat" cmpd="sng" w="9525">
            <a:solidFill>
              <a:srgbClr val="FFD16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9"/>
          <p:cNvSpPr/>
          <p:nvPr/>
        </p:nvSpPr>
        <p:spPr>
          <a:xfrm>
            <a:off x="8117056" y="2796775"/>
            <a:ext cx="54264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Noto Sans JP"/>
              <a:buNone/>
            </a:pPr>
            <a:r>
              <a:rPr b="1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React Admin Web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8117056" y="3168250"/>
            <a:ext cx="54264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ADMIN-WEB ／ React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9"/>
          <p:cNvSpPr/>
          <p:nvPr/>
        </p:nvSpPr>
        <p:spPr>
          <a:xfrm>
            <a:off x="2038350" y="4196950"/>
            <a:ext cx="11725200" cy="1666800"/>
          </a:xfrm>
          <a:prstGeom prst="roundRect">
            <a:avLst>
              <a:gd fmla="val 8000" name="adj"/>
            </a:avLst>
          </a:prstGeom>
          <a:solidFill>
            <a:srgbClr val="1A1640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9"/>
          <p:cNvSpPr/>
          <p:nvPr/>
        </p:nvSpPr>
        <p:spPr>
          <a:xfrm>
            <a:off x="2245476" y="4377925"/>
            <a:ext cx="116502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EDGE ／ REST + WebSocket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9"/>
          <p:cNvSpPr/>
          <p:nvPr/>
        </p:nvSpPr>
        <p:spPr>
          <a:xfrm>
            <a:off x="2257425" y="4768453"/>
            <a:ext cx="5934075" cy="914400"/>
          </a:xfrm>
          <a:prstGeom prst="roundRect">
            <a:avLst>
              <a:gd fmla="val 10417" name="adj"/>
            </a:avLst>
          </a:prstGeom>
          <a:solidFill>
            <a:srgbClr val="241B52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9"/>
          <p:cNvSpPr/>
          <p:nvPr/>
        </p:nvSpPr>
        <p:spPr>
          <a:xfrm>
            <a:off x="2438400" y="4892278"/>
            <a:ext cx="573928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Noto Sans JP"/>
              <a:buNone/>
            </a:pPr>
            <a:r>
              <a:rPr b="1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API Gateway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2438400" y="5263753"/>
            <a:ext cx="573928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REST: /player/* ／ /admin/* ｜ wss://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9"/>
          <p:cNvSpPr/>
          <p:nvPr/>
        </p:nvSpPr>
        <p:spPr>
          <a:xfrm>
            <a:off x="7945952" y="4768450"/>
            <a:ext cx="5610300" cy="914400"/>
          </a:xfrm>
          <a:prstGeom prst="roundRect">
            <a:avLst>
              <a:gd fmla="val 10417" name="adj"/>
            </a:avLst>
          </a:prstGeom>
          <a:solidFill>
            <a:srgbClr val="241B52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9"/>
          <p:cNvSpPr/>
          <p:nvPr/>
        </p:nvSpPr>
        <p:spPr>
          <a:xfrm>
            <a:off x="8117056" y="4892275"/>
            <a:ext cx="54264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Noto Sans JP"/>
              <a:buNone/>
            </a:pPr>
            <a:r>
              <a:rPr b="1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Amazon Cognito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8117056" y="5263750"/>
            <a:ext cx="54264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メール ＋ Google ＋ X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2038350" y="5997175"/>
            <a:ext cx="11725200" cy="1962300"/>
          </a:xfrm>
          <a:prstGeom prst="roundRect">
            <a:avLst>
              <a:gd fmla="val 6796" name="adj"/>
            </a:avLst>
          </a:prstGeom>
          <a:solidFill>
            <a:srgbClr val="1A1640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9"/>
          <p:cNvSpPr/>
          <p:nvPr/>
        </p:nvSpPr>
        <p:spPr>
          <a:xfrm>
            <a:off x="2245476" y="6178150"/>
            <a:ext cx="116502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COMPUTE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2257425" y="6568678"/>
            <a:ext cx="5934075" cy="1209675"/>
          </a:xfrm>
          <a:prstGeom prst="roundRect">
            <a:avLst>
              <a:gd fmla="val 7874" name="adj"/>
            </a:avLst>
          </a:prstGeom>
          <a:solidFill>
            <a:srgbClr val="241B52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9"/>
          <p:cNvSpPr/>
          <p:nvPr/>
        </p:nvSpPr>
        <p:spPr>
          <a:xfrm>
            <a:off x="2438400" y="6692503"/>
            <a:ext cx="573928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Noto Sans JP"/>
              <a:buNone/>
            </a:pPr>
            <a:r>
              <a:rPr b="1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BE-API Lambda (Monolithic)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2438400" y="7063978"/>
            <a:ext cx="5739289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recording ／ avatar ／ health-sync ／ social ／ admin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7945952" y="6568675"/>
            <a:ext cx="5610300" cy="1209600"/>
          </a:xfrm>
          <a:prstGeom prst="roundRect">
            <a:avLst>
              <a:gd fmla="val 7874" name="adj"/>
            </a:avLst>
          </a:prstGeom>
          <a:solidFill>
            <a:srgbClr val="241B52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9"/>
          <p:cNvSpPr/>
          <p:nvPr/>
        </p:nvSpPr>
        <p:spPr>
          <a:xfrm>
            <a:off x="8117056" y="6692500"/>
            <a:ext cx="54264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Noto Sans JP"/>
              <a:buNone/>
            </a:pPr>
            <a:r>
              <a:rPr b="1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BE-WS Lambda (Battle)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8117056" y="7063975"/>
            <a:ext cx="54264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マッチメイキング ／ ターン処理 ／ 状態同期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2038350" y="8092675"/>
            <a:ext cx="11725200" cy="1962300"/>
          </a:xfrm>
          <a:prstGeom prst="roundRect">
            <a:avLst>
              <a:gd fmla="val 6796" name="adj"/>
            </a:avLst>
          </a:prstGeom>
          <a:solidFill>
            <a:srgbClr val="1A1640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9"/>
          <p:cNvSpPr/>
          <p:nvPr/>
        </p:nvSpPr>
        <p:spPr>
          <a:xfrm>
            <a:off x="2245476" y="8273650"/>
            <a:ext cx="116502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DATA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2257425" y="8664178"/>
            <a:ext cx="5934075" cy="1209675"/>
          </a:xfrm>
          <a:prstGeom prst="roundRect">
            <a:avLst>
              <a:gd fmla="val 7874" name="adj"/>
            </a:avLst>
          </a:prstGeom>
          <a:solidFill>
            <a:srgbClr val="241B52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9"/>
          <p:cNvSpPr/>
          <p:nvPr/>
        </p:nvSpPr>
        <p:spPr>
          <a:xfrm>
            <a:off x="2438400" y="8788003"/>
            <a:ext cx="5739289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Noto Sans JP"/>
              <a:buNone/>
            </a:pPr>
            <a:r>
              <a:rPr b="1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DynamoDB ／ Table per Entity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2438400" y="9159478"/>
            <a:ext cx="5739289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Users ｜ Avatars ｜ Records ｜ Battles ｜ Friends ｜ MasterData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7945952" y="8664175"/>
            <a:ext cx="5610300" cy="1209600"/>
          </a:xfrm>
          <a:prstGeom prst="roundRect">
            <a:avLst>
              <a:gd fmla="val 7874" name="adj"/>
            </a:avLst>
          </a:prstGeom>
          <a:solidFill>
            <a:srgbClr val="241B52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9"/>
          <p:cNvSpPr/>
          <p:nvPr/>
        </p:nvSpPr>
        <p:spPr>
          <a:xfrm>
            <a:off x="8117056" y="8788000"/>
            <a:ext cx="54264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Noto Sans JP"/>
              <a:buNone/>
            </a:pPr>
            <a:r>
              <a:rPr b="1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S3 ／ 事前生成 AI アセット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8117056" y="9159475"/>
            <a:ext cx="54264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アバター画像 ／ 短動画クリップ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14199675" y="2101450"/>
            <a:ext cx="3769500" cy="1236300"/>
          </a:xfrm>
          <a:prstGeom prst="roundRect">
            <a:avLst>
              <a:gd fmla="val 7705" name="adj"/>
            </a:avLst>
          </a:prstGeom>
          <a:solidFill>
            <a:srgbClr val="1A1640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9"/>
          <p:cNvSpPr/>
          <p:nvPr/>
        </p:nvSpPr>
        <p:spPr>
          <a:xfrm>
            <a:off x="14455462" y="2244325"/>
            <a:ext cx="2913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FE 構成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14455461" y="2577699"/>
            <a:ext cx="3365700" cy="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Noto Sans JP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Feature-first ＋ 軽量クリーン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14199675" y="3451915"/>
            <a:ext cx="3769500" cy="927600"/>
          </a:xfrm>
          <a:prstGeom prst="roundRect">
            <a:avLst>
              <a:gd fmla="val 10268" name="adj"/>
            </a:avLst>
          </a:prstGeom>
          <a:solidFill>
            <a:srgbClr val="1A1640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9"/>
          <p:cNvSpPr/>
          <p:nvPr/>
        </p:nvSpPr>
        <p:spPr>
          <a:xfrm>
            <a:off x="14455461" y="3594790"/>
            <a:ext cx="33657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バトル状態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14455461" y="3928164"/>
            <a:ext cx="33657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Noto Sans JP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サーバー側で完全管理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14199675" y="4493858"/>
            <a:ext cx="3769500" cy="927600"/>
          </a:xfrm>
          <a:prstGeom prst="roundRect">
            <a:avLst>
              <a:gd fmla="val 10268" name="adj"/>
            </a:avLst>
          </a:prstGeom>
          <a:solidFill>
            <a:srgbClr val="1A1640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9"/>
          <p:cNvSpPr/>
          <p:nvPr/>
        </p:nvSpPr>
        <p:spPr>
          <a:xfrm>
            <a:off x="14455461" y="4636733"/>
            <a:ext cx="33657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AI アセット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9"/>
          <p:cNvSpPr/>
          <p:nvPr/>
        </p:nvSpPr>
        <p:spPr>
          <a:xfrm>
            <a:off x="14455461" y="4970107"/>
            <a:ext cx="33657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Noto Sans JP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事前生成 ／ S3 配信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14199675" y="5535802"/>
            <a:ext cx="3769500" cy="1236300"/>
          </a:xfrm>
          <a:prstGeom prst="roundRect">
            <a:avLst>
              <a:gd fmla="val 7705" name="adj"/>
            </a:avLst>
          </a:prstGeom>
          <a:solidFill>
            <a:srgbClr val="1A1640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9"/>
          <p:cNvSpPr/>
          <p:nvPr/>
        </p:nvSpPr>
        <p:spPr>
          <a:xfrm>
            <a:off x="14455461" y="5678677"/>
            <a:ext cx="33657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通知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14455461" y="6012052"/>
            <a:ext cx="3365700" cy="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Noto Sans JP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バトル WS</a:t>
            </a:r>
            <a:r>
              <a:rPr b="0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 ／</a:t>
            </a:r>
            <a:r>
              <a:rPr b="0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 他はポーリング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B1E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0"/>
          <p:cNvSpPr/>
          <p:nvPr/>
        </p:nvSpPr>
        <p:spPr>
          <a:xfrm>
            <a:off x="914400" y="381000"/>
            <a:ext cx="7683044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950"/>
              <a:buFont typeface="JetBrains Mono"/>
              <a:buNone/>
            </a:pPr>
            <a:r>
              <a:rPr b="0" i="0" lang="en-US" sz="1950" u="none" cap="none" strike="noStrike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UNIT OF WORK — 5 ユニット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914400" y="914400"/>
            <a:ext cx="16952976" cy="80605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5400"/>
              <a:buFont typeface="Noto Sans JP"/>
              <a:buNone/>
            </a:pPr>
            <a:r>
              <a:rPr b="1" i="0" lang="en-US" sz="54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順次 4 ユニット ＋ </a:t>
            </a:r>
            <a:r>
              <a:rPr b="1" i="0" lang="en-US" sz="5400" u="none" cap="none" strike="noStrike">
                <a:solidFill>
                  <a:srgbClr val="FFD166"/>
                </a:solidFill>
                <a:latin typeface="Noto Sans JP"/>
                <a:ea typeface="Noto Sans JP"/>
                <a:cs typeface="Noto Sans JP"/>
                <a:sym typeface="Noto Sans JP"/>
              </a:rPr>
              <a:t>並行 1 ユニット </a:t>
            </a:r>
            <a:r>
              <a:rPr b="1" i="0" lang="en-US" sz="54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で詰まらせない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914400" y="2101453"/>
            <a:ext cx="3986100" cy="3802200"/>
          </a:xfrm>
          <a:prstGeom prst="roundRect">
            <a:avLst>
              <a:gd fmla="val 4008" name="adj"/>
            </a:avLst>
          </a:prstGeom>
          <a:solidFill>
            <a:srgbClr val="1A1640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0"/>
          <p:cNvSpPr/>
          <p:nvPr/>
        </p:nvSpPr>
        <p:spPr>
          <a:xfrm>
            <a:off x="1133475" y="2377678"/>
            <a:ext cx="12924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UNIT 01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4262438" y="2339578"/>
            <a:ext cx="419100" cy="371400"/>
          </a:xfrm>
          <a:prstGeom prst="ellipse">
            <a:avLst/>
          </a:prstGeom>
          <a:solidFill>
            <a:srgbClr val="B8B5CC">
              <a:alpha val="1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10"/>
          <p:cNvSpPr/>
          <p:nvPr/>
        </p:nvSpPr>
        <p:spPr>
          <a:xfrm>
            <a:off x="4357688" y="2377678"/>
            <a:ext cx="3048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小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1133475" y="2844403"/>
            <a:ext cx="3654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950"/>
              <a:buFont typeface="Noto Sans JP"/>
              <a:buNone/>
            </a:pPr>
            <a:r>
              <a:rPr b="1" i="0" lang="en-US" sz="195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認証基盤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1133475" y="3274814"/>
            <a:ext cx="36546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FR-1 ／ 6 stories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0"/>
          <p:cNvSpPr/>
          <p:nvPr/>
        </p:nvSpPr>
        <p:spPr>
          <a:xfrm>
            <a:off x="1133475" y="3703439"/>
            <a:ext cx="3654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Noto Sans JP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Noto Sans JP"/>
                <a:ea typeface="Noto Sans JP"/>
                <a:cs typeface="Noto Sans JP"/>
                <a:sym typeface="Noto Sans JP"/>
              </a:rPr>
              <a:t>ログイン → トークン取得 → 認証付き API 呼び出しが動作する状態まで。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1133475" y="4865489"/>
            <a:ext cx="1150800" cy="371400"/>
          </a:xfrm>
          <a:prstGeom prst="roundRect">
            <a:avLst>
              <a:gd fmla="val 15385" name="adj"/>
            </a:avLst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10"/>
          <p:cNvSpPr/>
          <p:nvPr/>
        </p:nvSpPr>
        <p:spPr>
          <a:xfrm>
            <a:off x="1228725" y="4903589"/>
            <a:ext cx="10365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FE-AUTH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0"/>
          <p:cNvSpPr/>
          <p:nvPr/>
        </p:nvSpPr>
        <p:spPr>
          <a:xfrm>
            <a:off x="2341364" y="4865489"/>
            <a:ext cx="1150800" cy="371400"/>
          </a:xfrm>
          <a:prstGeom prst="roundRect">
            <a:avLst>
              <a:gd fmla="val 15385" name="adj"/>
            </a:avLst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0"/>
          <p:cNvSpPr/>
          <p:nvPr/>
        </p:nvSpPr>
        <p:spPr>
          <a:xfrm>
            <a:off x="2436614" y="4903589"/>
            <a:ext cx="10365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BE-AUTH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1133475" y="5294114"/>
            <a:ext cx="1150800" cy="371400"/>
          </a:xfrm>
          <a:prstGeom prst="roundRect">
            <a:avLst>
              <a:gd fmla="val 15385" name="adj"/>
            </a:avLst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0"/>
          <p:cNvSpPr/>
          <p:nvPr/>
        </p:nvSpPr>
        <p:spPr>
          <a:xfrm>
            <a:off x="1228725" y="5332214"/>
            <a:ext cx="10365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Cognito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0"/>
          <p:cNvSpPr/>
          <p:nvPr/>
        </p:nvSpPr>
        <p:spPr>
          <a:xfrm>
            <a:off x="5072063" y="2101453"/>
            <a:ext cx="3986100" cy="3802200"/>
          </a:xfrm>
          <a:prstGeom prst="roundRect">
            <a:avLst>
              <a:gd fmla="val 4008" name="adj"/>
            </a:avLst>
          </a:prstGeom>
          <a:solidFill>
            <a:srgbClr val="1A1640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0"/>
          <p:cNvSpPr/>
          <p:nvPr/>
        </p:nvSpPr>
        <p:spPr>
          <a:xfrm>
            <a:off x="5291138" y="2377678"/>
            <a:ext cx="12924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UNIT 02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8420100" y="2339578"/>
            <a:ext cx="419100" cy="371400"/>
          </a:xfrm>
          <a:prstGeom prst="ellipse">
            <a:avLst/>
          </a:prstGeom>
          <a:solidFill>
            <a:srgbClr val="FF6B9D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0"/>
          <p:cNvSpPr/>
          <p:nvPr/>
        </p:nvSpPr>
        <p:spPr>
          <a:xfrm>
            <a:off x="8515350" y="2377678"/>
            <a:ext cx="3048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大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5291138" y="2844403"/>
            <a:ext cx="3654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950"/>
              <a:buFont typeface="Noto Sans JP"/>
              <a:buNone/>
            </a:pPr>
            <a:r>
              <a:rPr b="1" i="0" lang="en-US" sz="195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記録 ＋ ヘルス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5291138" y="3274814"/>
            <a:ext cx="36546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FR-2,3 ／ 16 stories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5291138" y="3703439"/>
            <a:ext cx="3654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Noto Sans JP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Noto Sans JP"/>
                <a:ea typeface="Noto Sans JP"/>
                <a:cs typeface="Noto Sans JP"/>
                <a:sym typeface="Noto Sans JP"/>
              </a:rPr>
              <a:t>手動記録 → ポイント加算、ヘルスデータ自動検出が動作する状態まで。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5291138" y="4865489"/>
            <a:ext cx="1836600" cy="371400"/>
          </a:xfrm>
          <a:prstGeom prst="roundRect">
            <a:avLst>
              <a:gd fmla="val 15385" name="adj"/>
            </a:avLst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0"/>
          <p:cNvSpPr/>
          <p:nvPr/>
        </p:nvSpPr>
        <p:spPr>
          <a:xfrm>
            <a:off x="5386388" y="4903589"/>
            <a:ext cx="17223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FE-RECORDING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7184827" y="4865489"/>
            <a:ext cx="1425000" cy="371400"/>
          </a:xfrm>
          <a:prstGeom prst="roundRect">
            <a:avLst>
              <a:gd fmla="val 15385" name="adj"/>
            </a:avLst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0"/>
          <p:cNvSpPr/>
          <p:nvPr/>
        </p:nvSpPr>
        <p:spPr>
          <a:xfrm>
            <a:off x="7280077" y="4903589"/>
            <a:ext cx="13107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FE-HEALTH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5291138" y="5294114"/>
            <a:ext cx="1425000" cy="371400"/>
          </a:xfrm>
          <a:prstGeom prst="roundRect">
            <a:avLst>
              <a:gd fmla="val 15385" name="adj"/>
            </a:avLst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0"/>
          <p:cNvSpPr/>
          <p:nvPr/>
        </p:nvSpPr>
        <p:spPr>
          <a:xfrm>
            <a:off x="5386388" y="5332214"/>
            <a:ext cx="13107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HealthKit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9229725" y="2101453"/>
            <a:ext cx="3986100" cy="3802200"/>
          </a:xfrm>
          <a:prstGeom prst="roundRect">
            <a:avLst>
              <a:gd fmla="val 4008" name="adj"/>
            </a:avLst>
          </a:prstGeom>
          <a:solidFill>
            <a:srgbClr val="1A1640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0"/>
          <p:cNvSpPr/>
          <p:nvPr/>
        </p:nvSpPr>
        <p:spPr>
          <a:xfrm>
            <a:off x="9448800" y="2377678"/>
            <a:ext cx="12924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UNIT 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0"/>
          <p:cNvSpPr/>
          <p:nvPr/>
        </p:nvSpPr>
        <p:spPr>
          <a:xfrm>
            <a:off x="12211943" y="2339578"/>
            <a:ext cx="784800" cy="371400"/>
          </a:xfrm>
          <a:prstGeom prst="roundRect">
            <a:avLst>
              <a:gd fmla="val 50000" name="adj"/>
            </a:avLst>
          </a:prstGeom>
          <a:solidFill>
            <a:srgbClr val="FFD166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0"/>
          <p:cNvSpPr/>
          <p:nvPr/>
        </p:nvSpPr>
        <p:spPr>
          <a:xfrm>
            <a:off x="12307193" y="2377678"/>
            <a:ext cx="6705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FFD1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中-大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0"/>
          <p:cNvSpPr/>
          <p:nvPr/>
        </p:nvSpPr>
        <p:spPr>
          <a:xfrm>
            <a:off x="9448800" y="2844403"/>
            <a:ext cx="3654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950"/>
              <a:buFont typeface="Noto Sans JP"/>
              <a:buNone/>
            </a:pPr>
            <a:r>
              <a:rPr b="1" i="0" lang="en-US" sz="195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アバター育成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0"/>
          <p:cNvSpPr/>
          <p:nvPr/>
        </p:nvSpPr>
        <p:spPr>
          <a:xfrm>
            <a:off x="9448800" y="3274814"/>
            <a:ext cx="36546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FR-4 ／ 8 stories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9448800" y="3703439"/>
            <a:ext cx="3654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Noto Sans JP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Noto Sans JP"/>
                <a:ea typeface="Noto Sans JP"/>
                <a:cs typeface="Noto Sans JP"/>
                <a:sym typeface="Noto Sans JP"/>
              </a:rPr>
              <a:t>ポイント加算 → レベルアップ → 進化 ／ 退化までが動作する状態。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0"/>
          <p:cNvSpPr/>
          <p:nvPr/>
        </p:nvSpPr>
        <p:spPr>
          <a:xfrm>
            <a:off x="9448800" y="4865489"/>
            <a:ext cx="1425000" cy="371400"/>
          </a:xfrm>
          <a:prstGeom prst="roundRect">
            <a:avLst>
              <a:gd fmla="val 15385" name="adj"/>
            </a:avLst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0"/>
          <p:cNvSpPr/>
          <p:nvPr/>
        </p:nvSpPr>
        <p:spPr>
          <a:xfrm>
            <a:off x="9544050" y="4903589"/>
            <a:ext cx="13107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FE-AVATAR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0"/>
          <p:cNvSpPr/>
          <p:nvPr/>
        </p:nvSpPr>
        <p:spPr>
          <a:xfrm>
            <a:off x="10930979" y="4865489"/>
            <a:ext cx="1973700" cy="371400"/>
          </a:xfrm>
          <a:prstGeom prst="roundRect">
            <a:avLst>
              <a:gd fmla="val 15385" name="adj"/>
            </a:avLst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0"/>
          <p:cNvSpPr/>
          <p:nvPr/>
        </p:nvSpPr>
        <p:spPr>
          <a:xfrm>
            <a:off x="11026229" y="4903589"/>
            <a:ext cx="18594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Avatar Domain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0"/>
          <p:cNvSpPr/>
          <p:nvPr/>
        </p:nvSpPr>
        <p:spPr>
          <a:xfrm>
            <a:off x="9448800" y="5294114"/>
            <a:ext cx="465000" cy="371400"/>
          </a:xfrm>
          <a:prstGeom prst="roundRect">
            <a:avLst>
              <a:gd fmla="val 15385" name="adj"/>
            </a:avLst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0"/>
          <p:cNvSpPr/>
          <p:nvPr/>
        </p:nvSpPr>
        <p:spPr>
          <a:xfrm>
            <a:off x="9544050" y="5332214"/>
            <a:ext cx="3507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0"/>
          <p:cNvSpPr/>
          <p:nvPr/>
        </p:nvSpPr>
        <p:spPr>
          <a:xfrm>
            <a:off x="13387388" y="2101453"/>
            <a:ext cx="3986100" cy="3802200"/>
          </a:xfrm>
          <a:prstGeom prst="roundRect">
            <a:avLst>
              <a:gd fmla="val 4008" name="adj"/>
            </a:avLst>
          </a:prstGeom>
          <a:solidFill>
            <a:srgbClr val="1A1640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0"/>
          <p:cNvSpPr/>
          <p:nvPr/>
        </p:nvSpPr>
        <p:spPr>
          <a:xfrm>
            <a:off x="13606463" y="2377678"/>
            <a:ext cx="12924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UNIT 04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0"/>
          <p:cNvSpPr/>
          <p:nvPr/>
        </p:nvSpPr>
        <p:spPr>
          <a:xfrm>
            <a:off x="16735425" y="2339578"/>
            <a:ext cx="419100" cy="371400"/>
          </a:xfrm>
          <a:prstGeom prst="ellipse">
            <a:avLst/>
          </a:prstGeom>
          <a:solidFill>
            <a:srgbClr val="FF6B9D">
              <a:alpha val="1803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0"/>
          <p:cNvSpPr/>
          <p:nvPr/>
        </p:nvSpPr>
        <p:spPr>
          <a:xfrm>
            <a:off x="16830675" y="2377678"/>
            <a:ext cx="3048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大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0"/>
          <p:cNvSpPr/>
          <p:nvPr/>
        </p:nvSpPr>
        <p:spPr>
          <a:xfrm>
            <a:off x="13606463" y="2844403"/>
            <a:ext cx="36546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950"/>
              <a:buFont typeface="Noto Sans JP"/>
              <a:buNone/>
            </a:pPr>
            <a:r>
              <a:rPr b="1" i="0" lang="en-US" sz="195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バトル ＋ ソーシャル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0"/>
          <p:cNvSpPr/>
          <p:nvPr/>
        </p:nvSpPr>
        <p:spPr>
          <a:xfrm>
            <a:off x="13606463" y="3274814"/>
            <a:ext cx="36546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FR-5,6 ／ 16 stories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13606463" y="3703439"/>
            <a:ext cx="3654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Noto Sans JP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Noto Sans JP"/>
                <a:ea typeface="Noto Sans JP"/>
                <a:cs typeface="Noto Sans JP"/>
                <a:sym typeface="Noto Sans JP"/>
              </a:rPr>
              <a:t>マッチング → バトル → 結果、フレンド申請まで動作。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0"/>
          <p:cNvSpPr/>
          <p:nvPr/>
        </p:nvSpPr>
        <p:spPr>
          <a:xfrm>
            <a:off x="13606463" y="4865489"/>
            <a:ext cx="1425000" cy="371400"/>
          </a:xfrm>
          <a:prstGeom prst="roundRect">
            <a:avLst>
              <a:gd fmla="val 15385" name="adj"/>
            </a:avLst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0"/>
          <p:cNvSpPr/>
          <p:nvPr/>
        </p:nvSpPr>
        <p:spPr>
          <a:xfrm>
            <a:off x="13701713" y="4903589"/>
            <a:ext cx="13107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FE-BATTLE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0"/>
          <p:cNvSpPr/>
          <p:nvPr/>
        </p:nvSpPr>
        <p:spPr>
          <a:xfrm>
            <a:off x="15088642" y="4865489"/>
            <a:ext cx="1425000" cy="371400"/>
          </a:xfrm>
          <a:prstGeom prst="roundRect">
            <a:avLst>
              <a:gd fmla="val 15385" name="adj"/>
            </a:avLst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0"/>
          <p:cNvSpPr/>
          <p:nvPr/>
        </p:nvSpPr>
        <p:spPr>
          <a:xfrm>
            <a:off x="15183892" y="4903589"/>
            <a:ext cx="13107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FE-SOCIAL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0"/>
          <p:cNvSpPr/>
          <p:nvPr/>
        </p:nvSpPr>
        <p:spPr>
          <a:xfrm>
            <a:off x="13606463" y="5294114"/>
            <a:ext cx="1836600" cy="371400"/>
          </a:xfrm>
          <a:prstGeom prst="roundRect">
            <a:avLst>
              <a:gd fmla="val 15385" name="adj"/>
            </a:avLst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0"/>
          <p:cNvSpPr/>
          <p:nvPr/>
        </p:nvSpPr>
        <p:spPr>
          <a:xfrm>
            <a:off x="13701713" y="5332214"/>
            <a:ext cx="17223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BE-WEBSOCKET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0"/>
          <p:cNvSpPr/>
          <p:nvPr/>
        </p:nvSpPr>
        <p:spPr>
          <a:xfrm>
            <a:off x="914400" y="6075164"/>
            <a:ext cx="1905000" cy="1257300"/>
          </a:xfrm>
          <a:prstGeom prst="roundRect">
            <a:avLst>
              <a:gd fmla="val 12121" name="adj"/>
            </a:avLst>
          </a:prstGeom>
          <a:solidFill>
            <a:srgbClr val="FFD166">
              <a:alpha val="18039"/>
            </a:srgbClr>
          </a:solidFill>
          <a:ln cap="flat" cmpd="sng" w="9525">
            <a:solidFill>
              <a:srgbClr val="FFD16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0"/>
          <p:cNvSpPr/>
          <p:nvPr/>
        </p:nvSpPr>
        <p:spPr>
          <a:xfrm>
            <a:off x="1115467" y="6360914"/>
            <a:ext cx="15027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FFD1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PARALLEL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0"/>
          <p:cNvSpPr/>
          <p:nvPr/>
        </p:nvSpPr>
        <p:spPr>
          <a:xfrm>
            <a:off x="1115467" y="6713339"/>
            <a:ext cx="15027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Noto Sans JP"/>
              <a:buNone/>
            </a:pPr>
            <a:r>
              <a:rPr b="1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並行で 1 人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0"/>
          <p:cNvSpPr/>
          <p:nvPr/>
        </p:nvSpPr>
        <p:spPr>
          <a:xfrm>
            <a:off x="3048000" y="6075164"/>
            <a:ext cx="14325600" cy="1257300"/>
          </a:xfrm>
          <a:prstGeom prst="roundRect">
            <a:avLst>
              <a:gd fmla="val 12121" name="adj"/>
            </a:avLst>
          </a:prstGeom>
          <a:solidFill>
            <a:srgbClr val="1A1640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0"/>
          <p:cNvSpPr/>
          <p:nvPr/>
        </p:nvSpPr>
        <p:spPr>
          <a:xfrm>
            <a:off x="3305175" y="6370439"/>
            <a:ext cx="12924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UNIT 05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0"/>
          <p:cNvSpPr/>
          <p:nvPr/>
        </p:nvSpPr>
        <p:spPr>
          <a:xfrm>
            <a:off x="3305175" y="6703814"/>
            <a:ext cx="1292400" cy="371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Noto Sans JP"/>
              <a:buNone/>
            </a:pPr>
            <a:r>
              <a:rPr b="1" i="0" lang="en-US" sz="1800" u="none" cap="none" strike="noStrike">
                <a:solidFill>
                  <a:srgbClr val="FFFAFF"/>
                </a:solidFill>
                <a:latin typeface="Noto Sans JP"/>
                <a:ea typeface="Noto Sans JP"/>
                <a:cs typeface="Noto Sans JP"/>
                <a:sym typeface="Noto Sans JP"/>
              </a:rPr>
              <a:t>管理画面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0"/>
          <p:cNvSpPr/>
          <p:nvPr/>
        </p:nvSpPr>
        <p:spPr>
          <a:xfrm>
            <a:off x="4788098" y="6275189"/>
            <a:ext cx="95703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050"/>
              <a:buFont typeface="JetBrains Mono"/>
              <a:buNone/>
            </a:pPr>
            <a:r>
              <a:rPr b="0" i="0" lang="en-US" sz="105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FR-7 ／ 11 stories ／ 規模 中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0"/>
          <p:cNvSpPr/>
          <p:nvPr/>
        </p:nvSpPr>
        <p:spPr>
          <a:xfrm>
            <a:off x="4788098" y="6465689"/>
            <a:ext cx="95703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Noto Sans JP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Noto Sans JP"/>
                <a:ea typeface="Noto Sans JP"/>
                <a:cs typeface="Noto Sans JP"/>
                <a:sym typeface="Noto Sans JP"/>
              </a:rPr>
              <a:t>ADMIN-WEB (React) + Admin Domain。ユーザー / ゲームデータ / マスターデータ CRUD </a:t>
            </a:r>
            <a:endParaRPr b="0" i="0" sz="1800" u="none" cap="none" strike="noStrike">
              <a:solidFill>
                <a:srgbClr val="B8B5CC"/>
              </a:solidFill>
              <a:latin typeface="Noto Sans JP"/>
              <a:ea typeface="Noto Sans JP"/>
              <a:cs typeface="Noto Sans JP"/>
              <a:sym typeface="Noto Sans JP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Noto Sans JP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Noto Sans JP"/>
                <a:ea typeface="Noto Sans JP"/>
                <a:cs typeface="Noto Sans JP"/>
                <a:sym typeface="Noto Sans JP"/>
              </a:rPr>
              <a:t>まで。専門性が異なるため Unit 2 以降に並行着手。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0"/>
          <p:cNvSpPr/>
          <p:nvPr/>
        </p:nvSpPr>
        <p:spPr>
          <a:xfrm>
            <a:off x="14346436" y="6518077"/>
            <a:ext cx="876300" cy="371400"/>
          </a:xfrm>
          <a:prstGeom prst="roundRect">
            <a:avLst>
              <a:gd fmla="val 15385" name="adj"/>
            </a:avLst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0"/>
          <p:cNvSpPr/>
          <p:nvPr/>
        </p:nvSpPr>
        <p:spPr>
          <a:xfrm>
            <a:off x="14441686" y="6556177"/>
            <a:ext cx="762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React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0"/>
          <p:cNvSpPr/>
          <p:nvPr/>
        </p:nvSpPr>
        <p:spPr>
          <a:xfrm>
            <a:off x="15279886" y="6518077"/>
            <a:ext cx="1836600" cy="371400"/>
          </a:xfrm>
          <a:prstGeom prst="roundRect">
            <a:avLst>
              <a:gd fmla="val 15385" name="adj"/>
            </a:avLst>
          </a:prstGeom>
          <a:solidFill>
            <a:srgbClr val="FFFFFF">
              <a:alpha val="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0"/>
          <p:cNvSpPr/>
          <p:nvPr/>
        </p:nvSpPr>
        <p:spPr>
          <a:xfrm>
            <a:off x="15375136" y="6556177"/>
            <a:ext cx="17223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Admin Domain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0"/>
          <p:cNvSpPr/>
          <p:nvPr/>
        </p:nvSpPr>
        <p:spPr>
          <a:xfrm>
            <a:off x="914400" y="7503914"/>
            <a:ext cx="16459200" cy="771600"/>
          </a:xfrm>
          <a:prstGeom prst="roundRect">
            <a:avLst>
              <a:gd fmla="val 17284" name="adj"/>
            </a:avLst>
          </a:prstGeom>
          <a:solidFill>
            <a:srgbClr val="241B52"/>
          </a:solidFill>
          <a:ln cap="flat" cmpd="sng" w="9525">
            <a:solidFill>
              <a:srgbClr val="3A2D6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0"/>
          <p:cNvSpPr/>
          <p:nvPr/>
        </p:nvSpPr>
        <p:spPr>
          <a:xfrm>
            <a:off x="1171575" y="7742039"/>
            <a:ext cx="753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9D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FF6B9D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0"/>
          <p:cNvSpPr/>
          <p:nvPr/>
        </p:nvSpPr>
        <p:spPr>
          <a:xfrm>
            <a:off x="2114996" y="7684889"/>
            <a:ext cx="1135500" cy="409500"/>
          </a:xfrm>
          <a:prstGeom prst="roundRect">
            <a:avLst>
              <a:gd fmla="val 13953" name="adj"/>
            </a:avLst>
          </a:prstGeom>
          <a:solidFill>
            <a:srgbClr val="FF6B9D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0"/>
          <p:cNvSpPr/>
          <p:nvPr/>
        </p:nvSpPr>
        <p:spPr>
          <a:xfrm>
            <a:off x="2248346" y="7742039"/>
            <a:ext cx="945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U1 認証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0"/>
          <p:cNvSpPr/>
          <p:nvPr/>
        </p:nvSpPr>
        <p:spPr>
          <a:xfrm>
            <a:off x="3421856" y="7742039"/>
            <a:ext cx="3048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0"/>
          <p:cNvSpPr/>
          <p:nvPr/>
        </p:nvSpPr>
        <p:spPr>
          <a:xfrm>
            <a:off x="3821906" y="7684889"/>
            <a:ext cx="2049900" cy="409500"/>
          </a:xfrm>
          <a:prstGeom prst="roundRect">
            <a:avLst>
              <a:gd fmla="val 13953" name="adj"/>
            </a:avLst>
          </a:prstGeom>
          <a:solidFill>
            <a:srgbClr val="FF6B9D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0"/>
          <p:cNvSpPr/>
          <p:nvPr/>
        </p:nvSpPr>
        <p:spPr>
          <a:xfrm>
            <a:off x="3955256" y="7742039"/>
            <a:ext cx="18594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U2 記録＋ヘルス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0"/>
          <p:cNvSpPr/>
          <p:nvPr/>
        </p:nvSpPr>
        <p:spPr>
          <a:xfrm>
            <a:off x="6043166" y="7742039"/>
            <a:ext cx="3048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0"/>
          <p:cNvSpPr/>
          <p:nvPr/>
        </p:nvSpPr>
        <p:spPr>
          <a:xfrm>
            <a:off x="6443216" y="7684889"/>
            <a:ext cx="1592700" cy="409500"/>
          </a:xfrm>
          <a:prstGeom prst="roundRect">
            <a:avLst>
              <a:gd fmla="val 13953" name="adj"/>
            </a:avLst>
          </a:prstGeom>
          <a:solidFill>
            <a:srgbClr val="FF6B9D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0"/>
          <p:cNvSpPr/>
          <p:nvPr/>
        </p:nvSpPr>
        <p:spPr>
          <a:xfrm>
            <a:off x="6576566" y="7742039"/>
            <a:ext cx="14022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U3 アバター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0"/>
          <p:cNvSpPr/>
          <p:nvPr/>
        </p:nvSpPr>
        <p:spPr>
          <a:xfrm>
            <a:off x="8207276" y="7742039"/>
            <a:ext cx="3048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B5CC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B8B5C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10"/>
          <p:cNvSpPr/>
          <p:nvPr/>
        </p:nvSpPr>
        <p:spPr>
          <a:xfrm>
            <a:off x="8607326" y="7684889"/>
            <a:ext cx="2004000" cy="409500"/>
          </a:xfrm>
          <a:prstGeom prst="roundRect">
            <a:avLst>
              <a:gd fmla="val 13953" name="adj"/>
            </a:avLst>
          </a:prstGeom>
          <a:solidFill>
            <a:srgbClr val="FF6B9D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0"/>
          <p:cNvSpPr/>
          <p:nvPr/>
        </p:nvSpPr>
        <p:spPr>
          <a:xfrm>
            <a:off x="8740676" y="7742039"/>
            <a:ext cx="18135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AFF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FFFA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U4 バトル＋SNS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0"/>
          <p:cNvSpPr/>
          <p:nvPr/>
        </p:nvSpPr>
        <p:spPr>
          <a:xfrm>
            <a:off x="12826305" y="7684889"/>
            <a:ext cx="4290000" cy="409500"/>
          </a:xfrm>
          <a:prstGeom prst="roundRect">
            <a:avLst>
              <a:gd fmla="val 13953" name="adj"/>
            </a:avLst>
          </a:prstGeom>
          <a:solidFill>
            <a:srgbClr val="FFD166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0"/>
          <p:cNvSpPr/>
          <p:nvPr/>
        </p:nvSpPr>
        <p:spPr>
          <a:xfrm>
            <a:off x="12959655" y="7742039"/>
            <a:ext cx="4152000" cy="333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166"/>
              </a:buClr>
              <a:buSzPts val="1800"/>
              <a:buFont typeface="JetBrains Mono"/>
              <a:buNone/>
            </a:pPr>
            <a:r>
              <a:rPr b="0" i="0" lang="en-US" sz="1800" u="none" cap="none" strike="noStrike">
                <a:solidFill>
                  <a:srgbClr val="FFD1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U5 管理画面 ／ U2 以降に 1 人並行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2026-05-08T03:31:29Z</dcterms:created>
  <dc:creator>PptxGenJS</dc:creator>
</cp:coreProperties>
</file>